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39100" y="1638300"/>
            <a:ext cx="3581400" cy="3581400"/>
          </a:xfrm>
          <a:prstGeom prst="ellipse">
            <a:avLst/>
          </a:prstGeom>
          <a:noFill/>
          <a:ln w="17780">
            <a:solidFill>
              <a:srgbClr val="0C6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61220" y="1569720"/>
            <a:ext cx="137160" cy="137160"/>
          </a:xfrm>
          <a:prstGeom prst="ellipse">
            <a:avLst/>
          </a:prstGeom>
          <a:solidFill>
            <a:srgbClr val="0C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51920" y="3360420"/>
            <a:ext cx="137160" cy="137160"/>
          </a:xfrm>
          <a:prstGeom prst="ellipse">
            <a:avLst/>
          </a:prstGeom>
          <a:solidFill>
            <a:srgbClr val="0C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61220" y="5151120"/>
            <a:ext cx="137160" cy="137160"/>
          </a:xfrm>
          <a:prstGeom prst="ellipse">
            <a:avLst/>
          </a:prstGeom>
          <a:solidFill>
            <a:srgbClr val="0C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970520" y="3360420"/>
            <a:ext cx="137160" cy="137160"/>
          </a:xfrm>
          <a:prstGeom prst="ellipse">
            <a:avLst/>
          </a:prstGeom>
          <a:solidFill>
            <a:srgbClr val="0C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563880"/>
            <a:ext cx="762000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0">
                <a:solidFill>
                  <a:srgbClr val="B3BCDA"/>
                </a:solidFill>
                <a:latin typeface="맑은 고딕"/>
                <a:ea typeface="맑은 고딕"/>
                <a:cs typeface="맑은 고딕"/>
              </a:rPr>
              <a:t>●  동아쏘시오그룹 · DAI   |   AI 헬스케어 플랫폼 팀장 지원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2098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9AA6CB"/>
                </a:solidFill>
                <a:latin typeface="맑은 고딕"/>
                <a:ea typeface="맑은 고딕"/>
                <a:cs typeface="맑은 고딕"/>
              </a:rPr>
              <a:t>면접 발표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2484120"/>
            <a:ext cx="6705600" cy="7620"/>
          </a:xfrm>
          <a:prstGeom prst="rect">
            <a:avLst/>
          </a:prstGeom>
          <a:solidFill>
            <a:srgbClr val="3B4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621280"/>
            <a:ext cx="838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432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흩어진 헬스케어 접점을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432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성과가 순환하는 플랫폼으로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267200"/>
            <a:ext cx="76200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0">
                <a:solidFill>
                  <a:srgbClr val="CCD3E7"/>
                </a:solidFill>
                <a:latin typeface="맑은 고딕"/>
                <a:ea typeface="맑은 고딕"/>
                <a:cs typeface="맑은 고딕"/>
              </a:rPr>
              <a:t>대표 프로젝트 성과와 DAI 입사 후 실행 제안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4937760"/>
            <a:ext cx="6705600" cy="7620"/>
          </a:xfrm>
          <a:prstGeom prst="rect">
            <a:avLst/>
          </a:prstGeom>
          <a:solidFill>
            <a:srgbClr val="3B4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5059680"/>
            <a:ext cx="7620000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59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정치성</a:t>
            </a:r>
            <a:r>
              <a:rPr sz="1439" b="0">
                <a:solidFill>
                  <a:srgbClr val="A3ADCE"/>
                </a:solidFill>
                <a:latin typeface="맑은 고딕"/>
                <a:ea typeface="맑은 고딕"/>
                <a:cs typeface="맑은 고딕"/>
              </a:rPr>
              <a:t>   · 2026.09.16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640080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0">
                <a:solidFill>
                  <a:srgbClr val="828CAE"/>
                </a:solidFill>
                <a:latin typeface="맑은 고딕"/>
                <a:ea typeface="맑은 고딕"/>
                <a:cs typeface="맑은 고딕"/>
              </a:rPr>
              <a:t>2026 · 임원 면접 발표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40080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40" b="1">
                <a:solidFill>
                  <a:srgbClr val="828CAE"/>
                </a:solidFill>
                <a:latin typeface="맑은 고딕"/>
                <a:ea typeface="맑은 고딕"/>
                <a:cs typeface="맑은 고딕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57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강점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85800"/>
            <a:ext cx="335280" cy="15240"/>
          </a:xfrm>
          <a:prstGeom prst="rect">
            <a:avLst/>
          </a:prstGeom>
          <a:solidFill>
            <a:srgbClr val="CBD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883920"/>
            <a:ext cx="10668000" cy="106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324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사용자 여정과 현장 운영을</a:t>
            </a:r>
          </a:p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324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하나의 제품</a:t>
            </a:r>
            <a:r>
              <a:rPr sz="324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으로 연결해 왔습니다</a:t>
            </a:r>
          </a:p>
        </p:txBody>
      </p:sp>
      <p:sp>
        <p:nvSpPr>
          <p:cNvPr id="6" name="Oval 5"/>
          <p:cNvSpPr/>
          <p:nvPr/>
        </p:nvSpPr>
        <p:spPr>
          <a:xfrm>
            <a:off x="2209800" y="2743200"/>
            <a:ext cx="1066800" cy="106680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86400" y="2667000"/>
            <a:ext cx="1219200" cy="1219200"/>
          </a:xfrm>
          <a:prstGeom prst="ellipse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15400" y="2743200"/>
            <a:ext cx="1066800" cy="106680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3581400" y="3177540"/>
            <a:ext cx="990600" cy="1981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620000" y="3177540"/>
            <a:ext cx="990600" cy="1981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9200" y="41148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22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4541520"/>
            <a:ext cx="3048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6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무엇을 완료해야 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148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22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541520"/>
            <a:ext cx="3048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6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경험과 업무의 연결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4800" y="41148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22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현장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0" y="4541520"/>
            <a:ext cx="3048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6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무엇을 처리해야 하는가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5067300"/>
            <a:ext cx="8534400" cy="11430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5257800"/>
            <a:ext cx="21336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98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전환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654040"/>
            <a:ext cx="2133600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38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굿리치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2400" y="5257800"/>
            <a:ext cx="21336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98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2400" y="5654040"/>
            <a:ext cx="2133600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38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THK컴퍼니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5257800"/>
            <a:ext cx="21336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98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연동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0" y="5654040"/>
            <a:ext cx="2133600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38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병원 원무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5257800"/>
            <a:ext cx="21336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98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조직 실행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654040"/>
            <a:ext cx="2133600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38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코나아이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6187440"/>
            <a:ext cx="10668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산업은 달랐지만, 고객 행동과 운영 프로세스를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함께 바꾼 경험</a:t>
            </a:r>
            <a:r>
              <a:rPr sz="15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은 동일합니다.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653796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0">
                <a:solidFill>
                  <a:srgbClr val="8890A6"/>
                </a:solidFill>
                <a:latin typeface="맑은 고딕"/>
                <a:ea typeface="맑은 고딕"/>
                <a:cs typeface="맑은 고딕"/>
              </a:rPr>
              <a:t>정치성 · DAI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653796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40" b="1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57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성과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85800"/>
            <a:ext cx="335280" cy="15240"/>
          </a:xfrm>
          <a:prstGeom prst="rect">
            <a:avLst/>
          </a:prstGeom>
          <a:solidFill>
            <a:srgbClr val="CBD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883920"/>
            <a:ext cx="106680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24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성과는 </a:t>
            </a:r>
            <a:r>
              <a:rPr sz="324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숫자와 실행 범위</a:t>
            </a:r>
            <a:r>
              <a:rPr sz="324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로 증명했습니다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600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3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굿리치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859280"/>
            <a:ext cx="45720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92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+20</a:t>
            </a:r>
            <a:r>
              <a:rPr sz="3719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987040"/>
            <a:ext cx="457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상담신청 전환율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3444240"/>
            <a:ext cx="1905000" cy="807720"/>
          </a:xfrm>
          <a:prstGeom prst="roundRect">
            <a:avLst>
              <a:gd name="adj" fmla="val 9000"/>
            </a:avLst>
          </a:prstGeom>
          <a:solidFill>
            <a:srgbClr val="AEB5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3444240"/>
            <a:ext cx="1905000" cy="807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</a:pPr>
            <a:r>
              <a:rPr sz="12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상세결과</a:t>
            </a:r>
          </a:p>
          <a:p>
            <a:pPr algn="ctr">
              <a:lnSpc>
                <a:spcPct val="120000"/>
              </a:lnSpc>
              <a:spcBef>
                <a:spcPts val="0"/>
              </a:spcBef>
            </a:pPr>
            <a:r>
              <a:rPr sz="12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우선 공개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2720" y="3444240"/>
            <a:ext cx="457200" cy="807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39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15640" y="3444240"/>
            <a:ext cx="1905000" cy="807720"/>
          </a:xfrm>
          <a:prstGeom prst="roundRect">
            <a:avLst>
              <a:gd name="adj" fmla="val 9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5640" y="3444240"/>
            <a:ext cx="1905000" cy="807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</a:pPr>
            <a:r>
              <a:rPr sz="126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상담신청 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</a:pPr>
            <a:r>
              <a:rPr sz="126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상세 리포트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572000"/>
            <a:ext cx="48768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정보 제공 순서를 바꿔 상담 행동을 높였습니다.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029200"/>
            <a:ext cx="4876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6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기존 대비 상대 개선 · 상담정보 품질과 클레임을 함께 확인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600200"/>
            <a:ext cx="11430" cy="3581400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3200" y="1600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3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THK컴퍼니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0" y="1859280"/>
            <a:ext cx="45720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92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−67</a:t>
            </a:r>
            <a:r>
              <a:rPr sz="3719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2987040"/>
            <a:ext cx="457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직배송 처리시간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0" y="3444240"/>
            <a:ext cx="762000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개선 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91400" y="3444240"/>
            <a:ext cx="4038600" cy="335280"/>
          </a:xfrm>
          <a:prstGeom prst="roundRect">
            <a:avLst>
              <a:gd name="adj" fmla="val 14000"/>
            </a:avLst>
          </a:prstGeom>
          <a:solidFill>
            <a:srgbClr val="AEB5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91400" y="3444240"/>
            <a:ext cx="3916680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38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6시간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3200" y="3931920"/>
            <a:ext cx="762000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개선 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91400" y="3931920"/>
            <a:ext cx="1346200" cy="335280"/>
          </a:xfrm>
          <a:prstGeom prst="roundRect">
            <a:avLst>
              <a:gd name="adj" fmla="val 14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91400" y="3931920"/>
            <a:ext cx="1224280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38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0" y="4572000"/>
            <a:ext cx="48768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수기 확인과 예외처리를 시스템 흐름으로 구조화했습니다.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5379720"/>
            <a:ext cx="10668000" cy="11430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2000" y="5379720"/>
            <a:ext cx="10668000" cy="11430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600" y="551688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다른 회사에서의 실행 경험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600" y="5806440"/>
            <a:ext cx="5029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더베스트페이 · </a:t>
            </a:r>
            <a:r>
              <a:rPr sz="138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병원 시스템 연동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0600" y="6156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8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기존 EMR API로 예약·조회·수납 연결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8400" y="5806440"/>
            <a:ext cx="5029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코나아이 · </a:t>
            </a:r>
            <a:r>
              <a:rPr sz="138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다중 팀 실행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8400" y="6156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8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3개 팀 우선순위 조율 및 경영진 의사결정 지원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0" y="5654040"/>
            <a:ext cx="7620" cy="731520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" y="653796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0">
                <a:solidFill>
                  <a:srgbClr val="8890A6"/>
                </a:solidFill>
                <a:latin typeface="맑은 고딕"/>
                <a:ea typeface="맑은 고딕"/>
                <a:cs typeface="맑은 고딕"/>
              </a:rPr>
              <a:t>정치성 · DAI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653796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40" b="1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57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기회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85800"/>
            <a:ext cx="335280" cy="15240"/>
          </a:xfrm>
          <a:prstGeom prst="rect">
            <a:avLst/>
          </a:prstGeom>
          <a:solidFill>
            <a:srgbClr val="CBD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883920"/>
            <a:ext cx="10668000" cy="106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324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DAI의 다음 성장은</a:t>
            </a:r>
          </a:p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324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개별 솔루션이 아닌 </a:t>
            </a:r>
            <a:r>
              <a:rPr sz="324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연결된 환자 여정</a:t>
            </a:r>
            <a:r>
              <a:rPr sz="324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에서 나옵니다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2860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흩어진 접점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4400" y="2286000"/>
            <a:ext cx="259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DAI · 공통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0" y="228600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연결된 환자 여정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2743200"/>
            <a:ext cx="1264920" cy="563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889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743200"/>
            <a:ext cx="126492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68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3581400"/>
            <a:ext cx="1264920" cy="563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889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3581400"/>
            <a:ext cx="126492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68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19200" y="4267200"/>
            <a:ext cx="1264920" cy="563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889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9200" y="4267200"/>
            <a:ext cx="126492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68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복약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4953000"/>
            <a:ext cx="1264920" cy="563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889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4953000"/>
            <a:ext cx="126492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68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관리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14800" y="3863340"/>
            <a:ext cx="685800" cy="1981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34940" y="3177540"/>
            <a:ext cx="1569720" cy="1569720"/>
          </a:xfrm>
          <a:prstGeom prst="ellipse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4940" y="3703320"/>
            <a:ext cx="1569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52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DAI</a:t>
            </a:r>
          </a:p>
          <a:p>
            <a:pPr algn="ctr">
              <a:lnSpc>
                <a:spcPct val="120000"/>
              </a:lnSpc>
              <a:spcBef>
                <a:spcPts val="0"/>
              </a:spcBef>
            </a:pPr>
            <a:r>
              <a:rPr sz="1380" b="0">
                <a:solidFill>
                  <a:srgbClr val="C7D0E6"/>
                </a:solidFill>
                <a:latin typeface="맑은 고딕"/>
                <a:ea typeface="맑은 고딕"/>
                <a:cs typeface="맑은 고딕"/>
              </a:rPr>
              <a:t>공통 기반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3124200"/>
            <a:ext cx="701040" cy="335280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0" y="3124200"/>
            <a:ext cx="701040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439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45580" y="3794760"/>
            <a:ext cx="883920" cy="335280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5580" y="3794760"/>
            <a:ext cx="883920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439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4465320"/>
            <a:ext cx="701040" cy="335280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4465320"/>
            <a:ext cx="701040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439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1540" y="3794760"/>
            <a:ext cx="701040" cy="335280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1540" y="3794760"/>
            <a:ext cx="701040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439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AI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391400" y="3863340"/>
            <a:ext cx="685800" cy="1981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3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91600" y="2819400"/>
            <a:ext cx="2286000" cy="2286000"/>
          </a:xfrm>
          <a:prstGeom prst="ellipse">
            <a:avLst/>
          </a:prstGeom>
          <a:noFill/>
          <a:ln w="27940">
            <a:solidFill>
              <a:srgbClr val="B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68840" y="2453640"/>
            <a:ext cx="731520" cy="731520"/>
          </a:xfrm>
          <a:prstGeom prst="ellipse">
            <a:avLst/>
          </a:prstGeom>
          <a:solidFill>
            <a:srgbClr val="E9F7FB"/>
          </a:solidFill>
          <a:ln w="25400">
            <a:solidFill>
              <a:srgbClr val="5F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68840" y="245364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환자</a:t>
            </a:r>
          </a:p>
        </p:txBody>
      </p:sp>
      <p:sp>
        <p:nvSpPr>
          <p:cNvPr id="32" name="Oval 31"/>
          <p:cNvSpPr/>
          <p:nvPr/>
        </p:nvSpPr>
        <p:spPr>
          <a:xfrm>
            <a:off x="10855898" y="3243434"/>
            <a:ext cx="731520" cy="731520"/>
          </a:xfrm>
          <a:prstGeom prst="ellipse">
            <a:avLst/>
          </a:prstGeom>
          <a:solidFill>
            <a:srgbClr val="E9F7FB"/>
          </a:solidFill>
          <a:ln w="25400">
            <a:solidFill>
              <a:srgbClr val="5F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55898" y="3243434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의료진</a:t>
            </a:r>
          </a:p>
        </p:txBody>
      </p:sp>
      <p:sp>
        <p:nvSpPr>
          <p:cNvPr id="34" name="Oval 33"/>
          <p:cNvSpPr/>
          <p:nvPr/>
        </p:nvSpPr>
        <p:spPr>
          <a:xfrm>
            <a:off x="10440679" y="4521346"/>
            <a:ext cx="731520" cy="731520"/>
          </a:xfrm>
          <a:prstGeom prst="ellipse">
            <a:avLst/>
          </a:prstGeom>
          <a:solidFill>
            <a:srgbClr val="E9F7FB"/>
          </a:solidFill>
          <a:ln w="25400">
            <a:solidFill>
              <a:srgbClr val="5F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40679" y="4521346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다음 행동</a:t>
            </a:r>
          </a:p>
        </p:txBody>
      </p:sp>
      <p:sp>
        <p:nvSpPr>
          <p:cNvPr id="36" name="Oval 35"/>
          <p:cNvSpPr/>
          <p:nvPr/>
        </p:nvSpPr>
        <p:spPr>
          <a:xfrm>
            <a:off x="9097001" y="4521346"/>
            <a:ext cx="731520" cy="731520"/>
          </a:xfrm>
          <a:prstGeom prst="ellipse">
            <a:avLst/>
          </a:prstGeom>
          <a:solidFill>
            <a:srgbClr val="E9F7FB"/>
          </a:solidFill>
          <a:ln w="25400">
            <a:solidFill>
              <a:srgbClr val="5F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7001" y="4521346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38" name="Oval 37"/>
          <p:cNvSpPr/>
          <p:nvPr/>
        </p:nvSpPr>
        <p:spPr>
          <a:xfrm>
            <a:off x="8681782" y="3243434"/>
            <a:ext cx="731520" cy="731520"/>
          </a:xfrm>
          <a:prstGeom prst="ellipse">
            <a:avLst/>
          </a:prstGeom>
          <a:solidFill>
            <a:srgbClr val="E9F7FB"/>
          </a:solidFill>
          <a:ln w="25400">
            <a:solidFill>
              <a:srgbClr val="5FD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82" y="3243434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서비스 개선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" y="5791200"/>
            <a:ext cx="10668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그룹의 접점을 연결하고,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검증된 기능을 반복 가능한 플랫폼 자산</a:t>
            </a:r>
            <a:r>
              <a:rPr sz="15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으로 만들겠습니다.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6141720"/>
            <a:ext cx="10668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26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공개자료 기반 가설이며, 데이터·API·계약 조건은 입사 후 확인합니다.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000" y="653796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0">
                <a:solidFill>
                  <a:srgbClr val="8890A6"/>
                </a:solidFill>
                <a:latin typeface="맑은 고딕"/>
                <a:ea typeface="맑은 고딕"/>
                <a:cs typeface="맑은 고딕"/>
              </a:rPr>
              <a:t>정치성 · DAI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653796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40" b="1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57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제안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85800"/>
            <a:ext cx="335280" cy="15240"/>
          </a:xfrm>
          <a:prstGeom prst="rect">
            <a:avLst/>
          </a:prstGeom>
          <a:solidFill>
            <a:srgbClr val="CBD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838200"/>
            <a:ext cx="1066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52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DA Health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899160"/>
            <a:ext cx="685800" cy="304800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1400" y="899160"/>
            <a:ext cx="685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260" b="1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가칭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280160"/>
            <a:ext cx="1066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12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측정이 </a:t>
            </a:r>
            <a:r>
              <a:rPr sz="312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의료진의 판단과 다음 행동</a:t>
            </a:r>
            <a:r>
              <a:rPr sz="312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으로 이어지게 하겠습니다</a:t>
            </a:r>
          </a:p>
        </p:txBody>
      </p:sp>
      <p:sp>
        <p:nvSpPr>
          <p:cNvPr id="9" name="Oval 8"/>
          <p:cNvSpPr/>
          <p:nvPr/>
        </p:nvSpPr>
        <p:spPr>
          <a:xfrm>
            <a:off x="4648200" y="2667000"/>
            <a:ext cx="2895600" cy="2895600"/>
          </a:xfrm>
          <a:prstGeom prst="ellipse">
            <a:avLst/>
          </a:prstGeom>
          <a:noFill/>
          <a:ln w="30480">
            <a:solidFill>
              <a:srgbClr val="CF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55920" y="3474720"/>
            <a:ext cx="1280160" cy="1280160"/>
          </a:xfrm>
          <a:prstGeom prst="ellipse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0200" y="3733800"/>
            <a:ext cx="13716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39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환자 결과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20" b="1">
                <a:solidFill>
                  <a:srgbClr val="8B96B8"/>
                </a:solidFill>
                <a:latin typeface="맑은 고딕"/>
                <a:ea typeface="맑은 고딕"/>
                <a:cs typeface="맑은 고딕"/>
              </a:rPr>
              <a:t>+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39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성과</a:t>
            </a:r>
          </a:p>
        </p:txBody>
      </p:sp>
      <p:sp>
        <p:nvSpPr>
          <p:cNvPr id="12" name="Oval 11"/>
          <p:cNvSpPr/>
          <p:nvPr/>
        </p:nvSpPr>
        <p:spPr>
          <a:xfrm>
            <a:off x="5852160" y="2423160"/>
            <a:ext cx="487680" cy="487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2560320"/>
            <a:ext cx="487680" cy="21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0200" y="2956560"/>
            <a:ext cx="1371600" cy="42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등록·동의</a:t>
            </a:r>
          </a:p>
        </p:txBody>
      </p:sp>
      <p:sp>
        <p:nvSpPr>
          <p:cNvPr id="15" name="Oval 14"/>
          <p:cNvSpPr/>
          <p:nvPr/>
        </p:nvSpPr>
        <p:spPr>
          <a:xfrm>
            <a:off x="7229100" y="3423565"/>
            <a:ext cx="487680" cy="487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9100" y="3560725"/>
            <a:ext cx="487680" cy="21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7140" y="2935885"/>
            <a:ext cx="1371600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측정·문진</a:t>
            </a:r>
          </a:p>
        </p:txBody>
      </p:sp>
      <p:sp>
        <p:nvSpPr>
          <p:cNvPr id="18" name="Oval 17"/>
          <p:cNvSpPr/>
          <p:nvPr/>
        </p:nvSpPr>
        <p:spPr>
          <a:xfrm>
            <a:off x="6703155" y="5042255"/>
            <a:ext cx="487680" cy="487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3155" y="5179415"/>
            <a:ext cx="487680" cy="21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195" y="5575655"/>
            <a:ext cx="1371600" cy="42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규칙·AI 요약</a:t>
            </a:r>
          </a:p>
        </p:txBody>
      </p:sp>
      <p:sp>
        <p:nvSpPr>
          <p:cNvPr id="21" name="Oval 20"/>
          <p:cNvSpPr/>
          <p:nvPr/>
        </p:nvSpPr>
        <p:spPr>
          <a:xfrm>
            <a:off x="5001165" y="5042255"/>
            <a:ext cx="487680" cy="487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1165" y="5179415"/>
            <a:ext cx="487680" cy="21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9205" y="5575655"/>
            <a:ext cx="1371600" cy="42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의료진 검토</a:t>
            </a:r>
          </a:p>
        </p:txBody>
      </p:sp>
      <p:sp>
        <p:nvSpPr>
          <p:cNvPr id="24" name="Oval 23"/>
          <p:cNvSpPr/>
          <p:nvPr/>
        </p:nvSpPr>
        <p:spPr>
          <a:xfrm>
            <a:off x="4475220" y="3423565"/>
            <a:ext cx="487680" cy="487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5220" y="3560725"/>
            <a:ext cx="487680" cy="21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상담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33260" y="2935885"/>
            <a:ext cx="1371600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상담·진료 관리</a:t>
            </a:r>
          </a:p>
        </p:txBody>
      </p:sp>
      <p:sp>
        <p:nvSpPr>
          <p:cNvPr id="27" name="Chevron 26"/>
          <p:cNvSpPr/>
          <p:nvPr/>
        </p:nvSpPr>
        <p:spPr>
          <a:xfrm rot="2160000">
            <a:off x="6847935" y="2872182"/>
            <a:ext cx="198120" cy="142646"/>
          </a:xfrm>
          <a:prstGeom prst="chevron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 rot="6480000">
            <a:off x="7373880" y="4490872"/>
            <a:ext cx="198120" cy="142646"/>
          </a:xfrm>
          <a:prstGeom prst="chevron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evron 28"/>
          <p:cNvSpPr/>
          <p:nvPr/>
        </p:nvSpPr>
        <p:spPr>
          <a:xfrm rot="10800000">
            <a:off x="5996940" y="5491277"/>
            <a:ext cx="198120" cy="142646"/>
          </a:xfrm>
          <a:prstGeom prst="chevron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evron 29"/>
          <p:cNvSpPr/>
          <p:nvPr/>
        </p:nvSpPr>
        <p:spPr>
          <a:xfrm rot="15120000">
            <a:off x="4620000" y="4490872"/>
            <a:ext cx="198120" cy="142646"/>
          </a:xfrm>
          <a:prstGeom prst="chevron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 rot="19440000">
            <a:off x="5145945" y="2872182"/>
            <a:ext cx="198120" cy="142646"/>
          </a:xfrm>
          <a:prstGeom prst="chevron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0" y="3581400"/>
            <a:ext cx="16764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사용자·동의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267200"/>
            <a:ext cx="16764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데이터·API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06000" y="3581400"/>
            <a:ext cx="16764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AI 운영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06000" y="4267200"/>
            <a:ext cx="16764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KPI·근거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" y="588264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DAI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32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공통 플랫폼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0" y="588264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계열사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32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상품과 고객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0" y="588264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파트너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32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기기와 기술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0" y="588264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의료진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32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임상기준과 최종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" y="653796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0">
                <a:solidFill>
                  <a:srgbClr val="8890A6"/>
                </a:solidFill>
                <a:latin typeface="맑은 고딕"/>
                <a:ea typeface="맑은 고딕"/>
                <a:cs typeface="맑은 고딕"/>
              </a:rPr>
              <a:t>정치성 · DAI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653796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40" b="1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57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첫 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85800"/>
            <a:ext cx="335280" cy="15240"/>
          </a:xfrm>
          <a:prstGeom prst="rect">
            <a:avLst/>
          </a:prstGeom>
          <a:solidFill>
            <a:srgbClr val="CBD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883920"/>
            <a:ext cx="10668000" cy="106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324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첫 검증 후보</a:t>
            </a:r>
            <a:r>
              <a:rPr sz="324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는</a:t>
            </a:r>
          </a:p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324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하이카디 기반 심혈관 모니터링·추적관리입니다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7760" y="3048000"/>
            <a:ext cx="792480" cy="792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254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200" y="39319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019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4175760"/>
            <a:ext cx="1371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생체신호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측정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057400" y="3337560"/>
            <a:ext cx="457200" cy="1524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BD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51760" y="3048000"/>
            <a:ext cx="792480" cy="792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254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2200" y="39319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019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2200" y="4175760"/>
            <a:ext cx="1371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규칙·AI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81400" y="3337560"/>
            <a:ext cx="457200" cy="1524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BD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75760" y="3048000"/>
            <a:ext cx="792480" cy="792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254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39319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019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4175760"/>
            <a:ext cx="1371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의료진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05400" y="3337560"/>
            <a:ext cx="457200" cy="1524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BD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99760" y="3048000"/>
            <a:ext cx="792480" cy="792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254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0" y="39319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019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200" y="4175760"/>
            <a:ext cx="1371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상담·재방문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629400" y="3337560"/>
            <a:ext cx="457200" cy="1524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BD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23760" y="3048000"/>
            <a:ext cx="792480" cy="792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254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4200" y="39319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019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4200" y="4175760"/>
            <a:ext cx="1371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관리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6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결과 축적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10600" y="2895600"/>
            <a:ext cx="11430" cy="2286000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3500" y="2895600"/>
            <a:ext cx="259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확인해야 할 4가지</a:t>
            </a:r>
          </a:p>
        </p:txBody>
      </p:sp>
      <p:sp>
        <p:nvSpPr>
          <p:cNvPr id="27" name="Oval 26"/>
          <p:cNvSpPr/>
          <p:nvPr/>
        </p:nvSpPr>
        <p:spPr>
          <a:xfrm>
            <a:off x="8991600" y="3398520"/>
            <a:ext cx="121920" cy="121920"/>
          </a:xfrm>
          <a:prstGeom prst="ellipse">
            <a:avLst/>
          </a:prstGeom>
          <a:noFill/>
          <a:ln w="31750">
            <a:solidFill>
              <a:srgbClr val="5C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58300" y="3352800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8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데이터 권리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53500" y="3749040"/>
            <a:ext cx="2438400" cy="7620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991600" y="3886200"/>
            <a:ext cx="121920" cy="121920"/>
          </a:xfrm>
          <a:prstGeom prst="ellipse">
            <a:avLst/>
          </a:prstGeom>
          <a:noFill/>
          <a:ln w="31750">
            <a:solidFill>
              <a:srgbClr val="5C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58300" y="3840480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8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병원 수요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53500" y="4236720"/>
            <a:ext cx="2438400" cy="7620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991600" y="4373880"/>
            <a:ext cx="121920" cy="121920"/>
          </a:xfrm>
          <a:prstGeom prst="ellipse">
            <a:avLst/>
          </a:prstGeom>
          <a:noFill/>
          <a:ln w="31750">
            <a:solidFill>
              <a:srgbClr val="5C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4328160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8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규제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53500" y="4724400"/>
            <a:ext cx="2438400" cy="7620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91600" y="4861560"/>
            <a:ext cx="121920" cy="121920"/>
          </a:xfrm>
          <a:prstGeom prst="ellipse">
            <a:avLst/>
          </a:prstGeom>
          <a:noFill/>
          <a:ln w="31750">
            <a:solidFill>
              <a:srgbClr val="5C6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58300" y="4815840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8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지불 의사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" y="6096000"/>
            <a:ext cx="1066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6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공개적으로 확인되는 병원 도입 기반과 연속 측정 데이터를 고려한 후보이며, 내부 조건을 확인한 뒤 확정합니다.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" y="653796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0">
                <a:solidFill>
                  <a:srgbClr val="8890A6"/>
                </a:solidFill>
                <a:latin typeface="맑은 고딕"/>
                <a:ea typeface="맑은 고딕"/>
                <a:cs typeface="맑은 고딕"/>
              </a:rPr>
              <a:t>정치성 · DAI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653796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40" b="1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45720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실행 계획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85800"/>
            <a:ext cx="335280" cy="15240"/>
          </a:xfrm>
          <a:prstGeom prst="rect">
            <a:avLst/>
          </a:prstGeom>
          <a:solidFill>
            <a:srgbClr val="CBD6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883920"/>
            <a:ext cx="10668000" cy="106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324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입사 후 세 단계로</a:t>
            </a:r>
          </a:p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324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불확실성을 줄이고 </a:t>
            </a:r>
            <a:r>
              <a:rPr sz="324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투자 판단</a:t>
            </a:r>
            <a:r>
              <a:rPr sz="324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을 만들겠습니다</a:t>
            </a:r>
          </a:p>
        </p:txBody>
      </p:sp>
      <p:sp>
        <p:nvSpPr>
          <p:cNvPr id="6" name="Chevron 5"/>
          <p:cNvSpPr/>
          <p:nvPr/>
        </p:nvSpPr>
        <p:spPr>
          <a:xfrm>
            <a:off x="762000" y="2362200"/>
            <a:ext cx="3581400" cy="2362200"/>
          </a:xfrm>
          <a:prstGeom prst="chevron">
            <a:avLst>
              <a:gd name="adj" fmla="val 14000"/>
            </a:avLst>
          </a:prstGeom>
          <a:solidFill>
            <a:srgbClr val="AEB5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5400" y="2590800"/>
            <a:ext cx="266700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400" y="2804160"/>
            <a:ext cx="26670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0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이해와 선택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5400" y="3246120"/>
            <a:ext cx="25908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439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사용자·자산·조건 파악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439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첫 문제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3916680"/>
            <a:ext cx="259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가장 중요한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4099560"/>
            <a:ext cx="25908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59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우선 사용사례</a:t>
            </a:r>
          </a:p>
        </p:txBody>
      </p:sp>
      <p:sp>
        <p:nvSpPr>
          <p:cNvPr id="12" name="Chevron 11"/>
          <p:cNvSpPr/>
          <p:nvPr/>
        </p:nvSpPr>
        <p:spPr>
          <a:xfrm>
            <a:off x="4038600" y="2362200"/>
            <a:ext cx="3581400" cy="2362200"/>
          </a:xfrm>
          <a:prstGeom prst="chevron">
            <a:avLst>
              <a:gd name="adj" fmla="val 14000"/>
            </a:avLst>
          </a:prstGeom>
          <a:solidFill>
            <a:srgbClr val="0C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590800"/>
            <a:ext cx="266700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DFF3FB"/>
                </a:solidFill>
                <a:latin typeface="맑은 고딕"/>
                <a:ea typeface="맑은 고딕"/>
                <a:cs typeface="맑은 고딕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04160"/>
            <a:ext cx="26670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039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설계와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46120"/>
            <a:ext cx="25908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439" b="0">
                <a:solidFill>
                  <a:srgbClr val="EAF7FC"/>
                </a:solidFill>
                <a:latin typeface="맑은 고딕"/>
                <a:ea typeface="맑은 고딕"/>
                <a:cs typeface="맑은 고딕"/>
              </a:rPr>
              <a:t>환자 여정·시제품 제작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439" b="0">
                <a:solidFill>
                  <a:srgbClr val="EAF7FC"/>
                </a:solidFill>
                <a:latin typeface="맑은 고딕"/>
                <a:ea typeface="맑은 고딕"/>
                <a:cs typeface="맑은 고딕"/>
              </a:rPr>
              <a:t>연동·규제 검증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16680"/>
            <a:ext cx="259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가장 중요한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099560"/>
            <a:ext cx="25908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59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 운영 여부</a:t>
            </a:r>
          </a:p>
        </p:txBody>
      </p:sp>
      <p:sp>
        <p:nvSpPr>
          <p:cNvPr id="18" name="Chevron 17"/>
          <p:cNvSpPr/>
          <p:nvPr/>
        </p:nvSpPr>
        <p:spPr>
          <a:xfrm>
            <a:off x="7315200" y="2362200"/>
            <a:ext cx="3581400" cy="2362200"/>
          </a:xfrm>
          <a:prstGeom prst="chevron">
            <a:avLst>
              <a:gd name="adj" fmla="val 14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8600" y="2590800"/>
            <a:ext cx="266700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2804160"/>
            <a:ext cx="2667000" cy="33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039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구축과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8600" y="3246120"/>
            <a:ext cx="25908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439" b="0">
                <a:solidFill>
                  <a:srgbClr val="CDD6EA"/>
                </a:solidFill>
                <a:latin typeface="맑은 고딕"/>
                <a:ea typeface="맑은 고딕"/>
                <a:cs typeface="맑은 고딕"/>
              </a:rPr>
              <a:t>실제 운영·KPI 측정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439" b="0">
                <a:solidFill>
                  <a:srgbClr val="CDD6EA"/>
                </a:solidFill>
                <a:latin typeface="맑은 고딕"/>
                <a:ea typeface="맑은 고딕"/>
                <a:cs typeface="맑은 고딕"/>
              </a:rPr>
              <a:t>유료화·재사용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8600" y="3916680"/>
            <a:ext cx="259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최종 의사결정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8600" y="4099560"/>
            <a:ext cx="25908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98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확대 · 수정 · 중단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000" y="5120640"/>
            <a:ext cx="411480" cy="411480"/>
          </a:xfrm>
          <a:prstGeom prst="roundRect">
            <a:avLst>
              <a:gd name="adj" fmla="val 24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64920" y="5120640"/>
            <a:ext cx="213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환자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4920" y="5364480"/>
            <a:ext cx="213360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2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측정 지속·다음 행동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5120640"/>
            <a:ext cx="411480" cy="411480"/>
          </a:xfrm>
          <a:prstGeom prst="roundRect">
            <a:avLst>
              <a:gd name="adj" fmla="val 24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5120640"/>
            <a:ext cx="213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의료진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5364480"/>
            <a:ext cx="213360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2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확인율·업무시간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0" y="5120640"/>
            <a:ext cx="411480" cy="411480"/>
          </a:xfrm>
          <a:prstGeom prst="roundRect">
            <a:avLst>
              <a:gd name="adj" fmla="val 24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98920" y="5120640"/>
            <a:ext cx="213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사업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8920" y="5364480"/>
            <a:ext cx="213360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2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유료 전환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63000" y="5120640"/>
            <a:ext cx="411480" cy="411480"/>
          </a:xfrm>
          <a:prstGeom prst="roundRect">
            <a:avLst>
              <a:gd name="adj" fmla="val 24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65920" y="5120640"/>
            <a:ext cx="213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플랫폼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920" y="5364480"/>
            <a:ext cx="213360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20" b="0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데이터 품질·재사용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" y="5882640"/>
            <a:ext cx="10668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각 단계에서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경영진이 다음 투자를 판단할 수 있는 근거</a:t>
            </a:r>
            <a:r>
              <a:rPr sz="15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를 만들겠습니다.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0" y="653796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0">
                <a:solidFill>
                  <a:srgbClr val="8890A6"/>
                </a:solidFill>
                <a:latin typeface="맑은 고딕"/>
                <a:ea typeface="맑은 고딕"/>
                <a:cs typeface="맑은 고딕"/>
              </a:rPr>
              <a:t>정치성 · DAI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653796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40" b="1">
                <a:solidFill>
                  <a:srgbClr val="565D75"/>
                </a:solidFill>
                <a:latin typeface="맑은 고딕"/>
                <a:ea typeface="맑은 고딕"/>
                <a:cs typeface="맑은 고딕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63880"/>
            <a:ext cx="7620000" cy="19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0">
                <a:solidFill>
                  <a:srgbClr val="B3BCDA"/>
                </a:solidFill>
                <a:latin typeface="맑은 고딕"/>
                <a:ea typeface="맑은 고딕"/>
                <a:cs typeface="맑은 고딕"/>
              </a:rPr>
              <a:t>●  동아쏘시오그룹 · DAI   |   AI 헬스케어 플랫폼 팀장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676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9AA6CB"/>
                </a:solidFill>
                <a:latin typeface="맑은 고딕"/>
                <a:ea typeface="맑은 고딕"/>
                <a:cs typeface="맑은 고딕"/>
              </a:rPr>
              <a:t>다짐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1950720"/>
            <a:ext cx="10668000" cy="7620"/>
          </a:xfrm>
          <a:prstGeom prst="rect">
            <a:avLst/>
          </a:prstGeom>
          <a:solidFill>
            <a:srgbClr val="3B43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2286000"/>
            <a:ext cx="9906000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</a:pPr>
            <a:r>
              <a:rPr sz="312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기술을 도입하는 팀장이 아니라,</a:t>
            </a:r>
          </a:p>
          <a:p>
            <a:pPr algn="l">
              <a:lnSpc>
                <a:spcPct val="124000"/>
              </a:lnSpc>
              <a:spcBef>
                <a:spcPts val="0"/>
              </a:spcBef>
            </a:pPr>
            <a:r>
              <a:rPr sz="312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검증된 환자 여정과 반복 가능한 사업</a:t>
            </a:r>
            <a:r>
              <a:rPr sz="312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을 만들겠습니다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810000"/>
            <a:ext cx="309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879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328160"/>
            <a:ext cx="30988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</a:pPr>
            <a:r>
              <a:rPr sz="222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 가지</a:t>
            </a:r>
          </a:p>
          <a:p>
            <a:pPr algn="l">
              <a:lnSpc>
                <a:spcPct val="128000"/>
              </a:lnSpc>
              <a:spcBef>
                <a:spcPts val="0"/>
              </a:spcBef>
            </a:pPr>
            <a:r>
              <a:rPr sz="222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우선과제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0380" y="3810000"/>
            <a:ext cx="76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3280" y="3810000"/>
            <a:ext cx="309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879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3280" y="4328160"/>
            <a:ext cx="30988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</a:pPr>
            <a:r>
              <a:rPr sz="222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하나의</a:t>
            </a:r>
          </a:p>
          <a:p>
            <a:pPr algn="l">
              <a:lnSpc>
                <a:spcPct val="128000"/>
              </a:lnSpc>
              <a:spcBef>
                <a:spcPts val="0"/>
              </a:spcBef>
            </a:pPr>
            <a:r>
              <a:rPr sz="222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명확한 KPI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6380" y="3810000"/>
            <a:ext cx="76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9280" y="3810000"/>
            <a:ext cx="309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879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9280" y="4328160"/>
            <a:ext cx="30988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</a:pPr>
            <a:r>
              <a:rPr sz="222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 이후</a:t>
            </a:r>
          </a:p>
          <a:p>
            <a:pPr algn="l">
              <a:lnSpc>
                <a:spcPct val="128000"/>
              </a:lnSpc>
              <a:spcBef>
                <a:spcPts val="0"/>
              </a:spcBef>
            </a:pPr>
            <a:r>
              <a:rPr sz="222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638800"/>
            <a:ext cx="1066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0">
                <a:solidFill>
                  <a:srgbClr val="CCD3E7"/>
                </a:solidFill>
                <a:latin typeface="맑은 고딕"/>
                <a:ea typeface="맑은 고딕"/>
                <a:cs typeface="맑은 고딕"/>
              </a:rPr>
              <a:t>경영진에게는 </a:t>
            </a:r>
            <a:r>
              <a:rPr sz="156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선택의 근거</a:t>
            </a:r>
            <a:r>
              <a:rPr sz="1560" b="0">
                <a:solidFill>
                  <a:srgbClr val="CCD3E7"/>
                </a:solidFill>
                <a:latin typeface="맑은 고딕"/>
                <a:ea typeface="맑은 고딕"/>
                <a:cs typeface="맑은 고딕"/>
              </a:rPr>
              <a:t>를, 실행조직에는 </a:t>
            </a:r>
            <a:r>
              <a:rPr sz="156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명확한 범위</a:t>
            </a:r>
            <a:r>
              <a:rPr sz="1560" b="0">
                <a:solidFill>
                  <a:srgbClr val="CCD3E7"/>
                </a:solidFill>
                <a:latin typeface="맑은 고딕"/>
                <a:ea typeface="맑은 고딕"/>
                <a:cs typeface="맑은 고딕"/>
              </a:rPr>
              <a:t>를, 사업에는 </a:t>
            </a:r>
            <a:r>
              <a:rPr sz="156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측정 가능한 결과</a:t>
            </a:r>
            <a:r>
              <a:rPr sz="1560" b="0">
                <a:solidFill>
                  <a:srgbClr val="CCD3E7"/>
                </a:solidFill>
                <a:latin typeface="맑은 고딕"/>
                <a:ea typeface="맑은 고딕"/>
                <a:cs typeface="맑은 고딕"/>
              </a:rPr>
              <a:t>를 남기겠습니다.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6400800"/>
            <a:ext cx="5334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0">
                <a:solidFill>
                  <a:srgbClr val="828CAE"/>
                </a:solidFill>
                <a:latin typeface="맑은 고딕"/>
                <a:ea typeface="맑은 고딕"/>
                <a:cs typeface="맑은 고딕"/>
              </a:rPr>
              <a:t>감사합니다. 질문 부탁드립니다.  ·  정치성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400800"/>
            <a:ext cx="4572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40" b="1">
                <a:solidFill>
                  <a:srgbClr val="828CAE"/>
                </a:solidFill>
                <a:latin typeface="맑은 고딕"/>
                <a:ea typeface="맑은 고딕"/>
                <a:cs typeface="맑은 고딕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