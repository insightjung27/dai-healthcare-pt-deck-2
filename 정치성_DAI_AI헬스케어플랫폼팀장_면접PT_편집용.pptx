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78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14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01022" y="655303"/>
            <a:ext cx="91437" cy="91437"/>
          </a:xfrm>
          <a:prstGeom prst="roundRect">
            <a:avLst>
              <a:gd name="adj" fmla="val 50000"/>
            </a:avLst>
          </a:prstGeom>
          <a:solidFill>
            <a:srgbClr val="5FD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3418" y="609584"/>
            <a:ext cx="6857828" cy="18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60" b="0">
                <a:solidFill>
                  <a:srgbClr val="B3BCDA"/>
                </a:solidFill>
                <a:latin typeface="맑은 고딕"/>
                <a:ea typeface="맑은 고딕"/>
                <a:cs typeface="맑은 고딕"/>
              </a:rPr>
              <a:t>동아쏘시오그룹 · DAI    |    AI 헬스케어 플랫폼 팀장 지원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1022" y="2285942"/>
            <a:ext cx="3047923" cy="1981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29" b="1">
                <a:solidFill>
                  <a:srgbClr val="98A2C4"/>
                </a:solidFill>
                <a:latin typeface="맑은 고딕"/>
                <a:ea typeface="맑은 고딕"/>
                <a:cs typeface="맑은 고딕"/>
              </a:rPr>
              <a:t>면접 발표</a:t>
            </a:r>
          </a:p>
        </p:txBody>
      </p:sp>
      <p:sp>
        <p:nvSpPr>
          <p:cNvPr id="6" name="Rectangle 5"/>
          <p:cNvSpPr/>
          <p:nvPr/>
        </p:nvSpPr>
        <p:spPr>
          <a:xfrm>
            <a:off x="701022" y="2545016"/>
            <a:ext cx="822939" cy="16763"/>
          </a:xfrm>
          <a:prstGeom prst="rect">
            <a:avLst/>
          </a:prstGeom>
          <a:solidFill>
            <a:srgbClr val="3A4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1022" y="2788850"/>
            <a:ext cx="10058148" cy="15239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4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대표 프로젝트 성과와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4200" b="1">
                <a:solidFill>
                  <a:srgbClr val="5FD0EE"/>
                </a:solidFill>
                <a:latin typeface="맑은 고딕"/>
                <a:ea typeface="맑은 고딕"/>
                <a:cs typeface="맑은 고딕"/>
              </a:rPr>
              <a:t>DAI 플랫폼 구축 기여 방안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022" y="4312812"/>
            <a:ext cx="9905752" cy="335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680" b="0">
                <a:solidFill>
                  <a:srgbClr val="C7D0DE"/>
                </a:solidFill>
                <a:latin typeface="맑은 고딕"/>
                <a:ea typeface="맑은 고딕"/>
                <a:cs typeface="맑은 고딕"/>
              </a:rPr>
              <a:t>사용자와 현장의 문제를 제품과 운영의 개선으로 연결해 왔습니다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701022" y="4937636"/>
            <a:ext cx="10789650" cy="7619"/>
          </a:xfrm>
          <a:prstGeom prst="rect">
            <a:avLst/>
          </a:prstGeom>
          <a:solidFill>
            <a:srgbClr val="3A4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1022" y="5090032"/>
            <a:ext cx="6857828" cy="3352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정치성</a:t>
            </a:r>
            <a:r>
              <a:rPr sz="1320" b="0">
                <a:solidFill>
                  <a:srgbClr val="A3ADCE"/>
                </a:solidFill>
                <a:latin typeface="맑은 고딕"/>
                <a:ea typeface="맑은 고딕"/>
                <a:cs typeface="맑은 고딕"/>
              </a:rPr>
              <a:t>      · 2026.09.16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1022" y="6385400"/>
            <a:ext cx="5333866" cy="18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828CAE"/>
                </a:solidFill>
                <a:latin typeface="맑은 고딕"/>
                <a:ea typeface="맑은 고딕"/>
                <a:cs typeface="맑은 고딕"/>
              </a:rPr>
              <a:t>2026 · 임원 면접 발표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710" y="6385400"/>
            <a:ext cx="1523961" cy="18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1">
                <a:solidFill>
                  <a:srgbClr val="828CAE"/>
                </a:solidFill>
                <a:latin typeface="맑은 고딕"/>
                <a:ea typeface="맑은 고딕"/>
                <a:cs typeface="맑은 고딕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92397" y="502907"/>
            <a:ext cx="1828754" cy="18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869" b="1">
                <a:solidFill>
                  <a:srgbClr val="9298B0"/>
                </a:solidFill>
                <a:latin typeface="맑은 고딕"/>
                <a:ea typeface="맑은 고딕"/>
                <a:cs typeface="맑은 고딕"/>
              </a:rPr>
              <a:t>DAI · 정치성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01982" y="6293962"/>
            <a:ext cx="1219169" cy="18287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spcBef>
                <a:spcPts val="0"/>
              </a:spcBef>
            </a:pPr>
            <a:r>
              <a:rPr sz="869" b="1">
                <a:solidFill>
                  <a:srgbClr val="6F7590"/>
                </a:solidFill>
                <a:latin typeface="맑은 고딕"/>
                <a:ea typeface="맑은 고딕"/>
                <a:cs typeface="맑은 고딕"/>
              </a:rPr>
              <a:t>02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43" y="472428"/>
            <a:ext cx="6857828" cy="1981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29" b="1">
                <a:solidFill>
                  <a:srgbClr val="5C6478"/>
                </a:solidFill>
                <a:latin typeface="맑은 고딕"/>
                <a:ea typeface="맑은 고딕"/>
                <a:cs typeface="맑은 고딕"/>
              </a:rPr>
              <a:t>핵심 역량</a:t>
            </a:r>
          </a:p>
        </p:txBody>
      </p:sp>
      <p:sp>
        <p:nvSpPr>
          <p:cNvPr id="6" name="Rectangle 5"/>
          <p:cNvSpPr/>
          <p:nvPr/>
        </p:nvSpPr>
        <p:spPr>
          <a:xfrm>
            <a:off x="670543" y="701022"/>
            <a:ext cx="723881" cy="18287"/>
          </a:xfrm>
          <a:prstGeom prst="rect">
            <a:avLst/>
          </a:prstGeom>
          <a:solidFill>
            <a:srgbClr val="CB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0543" y="792460"/>
            <a:ext cx="10972525" cy="990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2520" b="1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복잡한 요구를 </a:t>
            </a:r>
            <a:r>
              <a:rPr sz="2520" b="1">
                <a:solidFill>
                  <a:srgbClr val="0C6D8C"/>
                </a:solidFill>
                <a:latin typeface="맑은 고딕"/>
                <a:ea typeface="맑은 고딕"/>
                <a:cs typeface="맑은 고딕"/>
              </a:rPr>
              <a:t>서비스 정책과 업무 흐름</a:t>
            </a:r>
            <a:r>
              <a:rPr sz="2520" b="1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으로 구체화하고,</a:t>
            </a:r>
          </a:p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2520" b="0">
                <a:solidFill>
                  <a:srgbClr val="3A3F57"/>
                </a:solidFill>
                <a:latin typeface="맑은 고딕"/>
                <a:ea typeface="맑은 고딕"/>
                <a:cs typeface="맑은 고딕"/>
              </a:rPr>
              <a:t>팀의 실행으로 연결해 왔습니다.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0543" y="2285942"/>
            <a:ext cx="2392620" cy="213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40" b="1">
                <a:solidFill>
                  <a:srgbClr val="334155"/>
                </a:solidFill>
                <a:latin typeface="맑은 고딕"/>
                <a:ea typeface="맑은 고딕"/>
                <a:cs typeface="맑은 고딕"/>
              </a:rPr>
              <a:t>경험 · 도메인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319" y="2285942"/>
            <a:ext cx="2811709" cy="213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40" b="1">
                <a:solidFill>
                  <a:srgbClr val="334155"/>
                </a:solidFill>
                <a:latin typeface="맑은 고딕"/>
                <a:ea typeface="맑은 고딕"/>
                <a:cs typeface="맑은 고딕"/>
              </a:rPr>
              <a:t>사용자가 완료할 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04489" y="2285942"/>
            <a:ext cx="2811709" cy="213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40" b="1">
                <a:solidFill>
                  <a:srgbClr val="334155"/>
                </a:solidFill>
                <a:latin typeface="맑은 고딕"/>
                <a:ea typeface="맑은 고딕"/>
                <a:cs typeface="맑은 고딕"/>
              </a:rPr>
              <a:t>현장의 처리 업무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3356" y="2285942"/>
            <a:ext cx="1767795" cy="213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40" b="1">
                <a:solidFill>
                  <a:srgbClr val="334155"/>
                </a:solidFill>
                <a:latin typeface="맑은 고딕"/>
                <a:ea typeface="맑은 고딕"/>
                <a:cs typeface="맑은 고딕"/>
              </a:rPr>
              <a:t>무엇을 증명하나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0543" y="2590735"/>
            <a:ext cx="10850608" cy="19049"/>
          </a:xfrm>
          <a:prstGeom prst="rect">
            <a:avLst/>
          </a:prstGeom>
          <a:solidFill>
            <a:srgbClr val="17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0543" y="2834569"/>
            <a:ext cx="2392620" cy="2590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39" b="1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굿리치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543" y="3078403"/>
            <a:ext cx="2392620" cy="18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90" b="1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보험 · 인슈어테크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319" y="2819329"/>
            <a:ext cx="2811709" cy="4876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70" b="0">
                <a:solidFill>
                  <a:srgbClr val="3A3F57"/>
                </a:solidFill>
                <a:latin typeface="맑은 고딕"/>
                <a:ea typeface="맑은 고딕"/>
                <a:cs typeface="맑은 고딕"/>
              </a:rPr>
              <a:t>보험분석을 위한 상담신청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9186" y="2819329"/>
            <a:ext cx="518147" cy="4876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320" b="0">
                <a:solidFill>
                  <a:srgbClr val="B7BDCB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4489" y="2819329"/>
            <a:ext cx="2811709" cy="4876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70" b="0">
                <a:solidFill>
                  <a:srgbClr val="3A3F57"/>
                </a:solidFill>
                <a:latin typeface="맑은 고딕"/>
                <a:ea typeface="맑은 고딕"/>
                <a:cs typeface="맑은 고딕"/>
              </a:rPr>
              <a:t>상담 활용 정보의 품질 확인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53356" y="2895527"/>
            <a:ext cx="640063" cy="304792"/>
          </a:xfrm>
          <a:prstGeom prst="roundRect">
            <a:avLst>
              <a:gd name="adj" fmla="val 50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53356" y="2895527"/>
            <a:ext cx="640063" cy="304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140" b="1">
                <a:solidFill>
                  <a:srgbClr val="334155"/>
                </a:solidFill>
                <a:latin typeface="맑은 고딕"/>
                <a:ea typeface="맑은 고딕"/>
                <a:cs typeface="맑은 고딕"/>
              </a:rPr>
              <a:t>전환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0543" y="3367955"/>
            <a:ext cx="10850608" cy="7619"/>
          </a:xfrm>
          <a:prstGeom prst="rect">
            <a:avLst/>
          </a:prstGeom>
          <a:solidFill>
            <a:srgbClr val="E5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0543" y="3474633"/>
            <a:ext cx="2392620" cy="2590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39" b="1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THK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543" y="3718467"/>
            <a:ext cx="2392620" cy="18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90" b="1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장기요양 · 돌봄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319" y="3459393"/>
            <a:ext cx="2811709" cy="4876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70" b="0">
                <a:solidFill>
                  <a:srgbClr val="3A3F57"/>
                </a:solidFill>
                <a:latin typeface="맑은 고딕"/>
                <a:ea typeface="맑은 고딕"/>
                <a:cs typeface="맑은 고딕"/>
              </a:rPr>
              <a:t>수급자 자격·구매 정보 조회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9186" y="3459393"/>
            <a:ext cx="518147" cy="4876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320" b="0">
                <a:solidFill>
                  <a:srgbClr val="B7BDCB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04489" y="3459393"/>
            <a:ext cx="2811709" cy="4876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70" b="0">
                <a:solidFill>
                  <a:srgbClr val="3A3F57"/>
                </a:solidFill>
                <a:latin typeface="맑은 고딕"/>
                <a:ea typeface="맑은 고딕"/>
                <a:cs typeface="맑은 고딕"/>
              </a:rPr>
              <a:t>주문·직배송의 확인과 예외 처리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53356" y="3535591"/>
            <a:ext cx="640063" cy="304792"/>
          </a:xfrm>
          <a:prstGeom prst="roundRect">
            <a:avLst>
              <a:gd name="adj" fmla="val 50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53356" y="3535591"/>
            <a:ext cx="640063" cy="304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140" b="1">
                <a:solidFill>
                  <a:srgbClr val="334155"/>
                </a:solidFill>
                <a:latin typeface="맑은 고딕"/>
                <a:ea typeface="맑은 고딕"/>
                <a:cs typeface="맑은 고딕"/>
              </a:rPr>
              <a:t>운영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0543" y="4008019"/>
            <a:ext cx="10850608" cy="7619"/>
          </a:xfrm>
          <a:prstGeom prst="rect">
            <a:avLst/>
          </a:prstGeom>
          <a:solidFill>
            <a:srgbClr val="E5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0543" y="4114697"/>
            <a:ext cx="2392620" cy="2590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39" b="1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더베스트페이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0543" y="4358531"/>
            <a:ext cx="2392620" cy="18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90" b="1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병원 원무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319" y="4099457"/>
            <a:ext cx="2811709" cy="4876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70" b="0">
                <a:solidFill>
                  <a:srgbClr val="3A3F57"/>
                </a:solidFill>
                <a:latin typeface="맑은 고딕"/>
                <a:ea typeface="맑은 고딕"/>
                <a:cs typeface="맑은 고딕"/>
              </a:rPr>
              <a:t>예약·조회·수납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9186" y="4099457"/>
            <a:ext cx="518147" cy="4876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320" b="0">
                <a:solidFill>
                  <a:srgbClr val="B7BDCB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04489" y="4099457"/>
            <a:ext cx="2811709" cy="4876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70" b="0">
                <a:solidFill>
                  <a:srgbClr val="3A3F57"/>
                </a:solidFill>
                <a:latin typeface="맑은 고딕"/>
                <a:ea typeface="맑은 고딕"/>
                <a:cs typeface="맑은 고딕"/>
              </a:rPr>
              <a:t>EMR 연동과 기관별 요구 조율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53356" y="4175655"/>
            <a:ext cx="640063" cy="304792"/>
          </a:xfrm>
          <a:prstGeom prst="roundRect">
            <a:avLst>
              <a:gd name="adj" fmla="val 50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53356" y="4175655"/>
            <a:ext cx="640063" cy="304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140" b="1">
                <a:solidFill>
                  <a:srgbClr val="334155"/>
                </a:solidFill>
                <a:latin typeface="맑은 고딕"/>
                <a:ea typeface="맑은 고딕"/>
                <a:cs typeface="맑은 고딕"/>
              </a:rPr>
              <a:t>연동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0543" y="4648083"/>
            <a:ext cx="10850608" cy="7619"/>
          </a:xfrm>
          <a:prstGeom prst="rect">
            <a:avLst/>
          </a:prstGeom>
          <a:solidFill>
            <a:srgbClr val="E5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0543" y="4754761"/>
            <a:ext cx="2392620" cy="2590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39" b="1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코나아이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0543" y="4998595"/>
            <a:ext cx="2392620" cy="18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90" b="1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지역화폐 · 결제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319" y="4739521"/>
            <a:ext cx="2811709" cy="4876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70" b="0">
                <a:solidFill>
                  <a:srgbClr val="3A3F57"/>
                </a:solidFill>
                <a:latin typeface="맑은 고딕"/>
                <a:ea typeface="맑은 고딕"/>
                <a:cs typeface="맑은 고딕"/>
              </a:rPr>
              <a:t>지역화폐·카드 이용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49186" y="4739521"/>
            <a:ext cx="518147" cy="4876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320" b="0">
                <a:solidFill>
                  <a:srgbClr val="B7BDCB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04489" y="4739521"/>
            <a:ext cx="2811709" cy="4876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70" b="0">
                <a:solidFill>
                  <a:srgbClr val="3A3F57"/>
                </a:solidFill>
                <a:latin typeface="맑은 고딕"/>
                <a:ea typeface="맑은 고딕"/>
                <a:cs typeface="맑은 고딕"/>
              </a:rPr>
              <a:t>3개 팀 요청의 우선순위·실행 관리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53356" y="4815719"/>
            <a:ext cx="1142971" cy="304792"/>
          </a:xfrm>
          <a:prstGeom prst="roundRect">
            <a:avLst>
              <a:gd name="adj" fmla="val 50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53356" y="4815719"/>
            <a:ext cx="1142971" cy="304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140" b="1">
                <a:solidFill>
                  <a:srgbClr val="334155"/>
                </a:solidFill>
                <a:latin typeface="맑은 고딕"/>
                <a:ea typeface="맑은 고딕"/>
                <a:cs typeface="맑은 고딕"/>
              </a:rPr>
              <a:t>조직 실행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0543" y="5288147"/>
            <a:ext cx="10850608" cy="7619"/>
          </a:xfrm>
          <a:prstGeom prst="rect">
            <a:avLst/>
          </a:prstGeom>
          <a:solidFill>
            <a:srgbClr val="E5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70543" y="5440543"/>
            <a:ext cx="10850608" cy="640063"/>
          </a:xfrm>
          <a:prstGeom prst="roundRect">
            <a:avLst>
              <a:gd name="adj" fmla="val 8000"/>
            </a:avLst>
          </a:prstGeom>
          <a:solidFill>
            <a:srgbClr val="14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9616" y="5440543"/>
            <a:ext cx="9326646" cy="640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38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네 곳 모두 사용자가 할 일과 현장이 처리할 일을 함께 설계했습니다.  </a:t>
            </a:r>
            <a:r>
              <a:rPr sz="1380" b="1">
                <a:solidFill>
                  <a:srgbClr val="5FD0EE"/>
                </a:solidFill>
                <a:latin typeface="맑은 고딕"/>
                <a:ea typeface="맑은 고딕"/>
                <a:cs typeface="맑은 고딕"/>
              </a:rPr>
              <a:t>그것이 하나의 역량입니다.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92397" y="502907"/>
            <a:ext cx="1828754" cy="18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869" b="1">
                <a:solidFill>
                  <a:srgbClr val="9298B0"/>
                </a:solidFill>
                <a:latin typeface="맑은 고딕"/>
                <a:ea typeface="맑은 고딕"/>
                <a:cs typeface="맑은 고딕"/>
              </a:rPr>
              <a:t>DAI · 정치성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01982" y="6293962"/>
            <a:ext cx="1219169" cy="18287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spcBef>
                <a:spcPts val="0"/>
              </a:spcBef>
            </a:pPr>
            <a:r>
              <a:rPr sz="869" b="1">
                <a:solidFill>
                  <a:srgbClr val="6F7590"/>
                </a:solidFill>
                <a:latin typeface="맑은 고딕"/>
                <a:ea typeface="맑은 고딕"/>
                <a:cs typeface="맑은 고딕"/>
              </a:rPr>
              <a:t>03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43" y="472428"/>
            <a:ext cx="6857828" cy="1981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29" b="1">
                <a:solidFill>
                  <a:srgbClr val="5C6478"/>
                </a:solidFill>
                <a:latin typeface="맑은 고딕"/>
                <a:ea typeface="맑은 고딕"/>
                <a:cs typeface="맑은 고딕"/>
              </a:rPr>
              <a:t>사례 01 · 굿리치</a:t>
            </a:r>
          </a:p>
        </p:txBody>
      </p:sp>
      <p:sp>
        <p:nvSpPr>
          <p:cNvPr id="6" name="Rectangle 5"/>
          <p:cNvSpPr/>
          <p:nvPr/>
        </p:nvSpPr>
        <p:spPr>
          <a:xfrm>
            <a:off x="670543" y="701022"/>
            <a:ext cx="1318227" cy="18287"/>
          </a:xfrm>
          <a:prstGeom prst="rect">
            <a:avLst/>
          </a:prstGeom>
          <a:solidFill>
            <a:srgbClr val="CB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0543" y="792460"/>
            <a:ext cx="10972525" cy="5333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3000" b="1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보험분석 상담신청 페이지 전환율 </a:t>
            </a:r>
            <a:r>
              <a:rPr sz="3000" b="1">
                <a:solidFill>
                  <a:srgbClr val="0C6D8C"/>
                </a:solidFill>
                <a:latin typeface="맑은 고딕"/>
                <a:ea typeface="맑은 고딕"/>
                <a:cs typeface="맑은 고딕"/>
              </a:rPr>
              <a:t>20% 개선</a:t>
            </a:r>
          </a:p>
        </p:txBody>
      </p:sp>
      <p:sp>
        <p:nvSpPr>
          <p:cNvPr id="8" name="Rectangle 7"/>
          <p:cNvSpPr/>
          <p:nvPr/>
        </p:nvSpPr>
        <p:spPr>
          <a:xfrm>
            <a:off x="670543" y="1386805"/>
            <a:ext cx="167635" cy="15239"/>
          </a:xfrm>
          <a:prstGeom prst="rect">
            <a:avLst/>
          </a:prstGeom>
          <a:solidFill>
            <a:srgbClr val="C3C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9616" y="1310607"/>
            <a:ext cx="9143771" cy="1981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6F7590"/>
                </a:solidFill>
                <a:latin typeface="맑은 고딕"/>
                <a:ea typeface="맑은 고딕"/>
                <a:cs typeface="맑은 고딕"/>
              </a:rPr>
              <a:t>페이지 수정 전 대비, 해당 페이지의 상담신청 전환율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0543" y="1889712"/>
            <a:ext cx="4503307" cy="4267093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778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570080" y="1889712"/>
            <a:ext cx="5951071" cy="4267093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778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9616" y="2087827"/>
            <a:ext cx="4046118" cy="1676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1">
                <a:solidFill>
                  <a:srgbClr val="5C6478"/>
                </a:solidFill>
                <a:latin typeface="맑은 고딕"/>
                <a:ea typeface="맑은 고딕"/>
                <a:cs typeface="맑은 고딕"/>
              </a:rPr>
              <a:t>핵심 레버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9616" y="2270703"/>
            <a:ext cx="4046118" cy="6857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2280" b="1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상세 리포트, </a:t>
            </a:r>
            <a:r>
              <a:rPr sz="2280" b="1">
                <a:solidFill>
                  <a:srgbClr val="0C6D8C"/>
                </a:solidFill>
                <a:latin typeface="맑은 고딕"/>
                <a:ea typeface="맑은 고딕"/>
                <a:cs typeface="맑은 고딕"/>
              </a:rPr>
              <a:t>상담 신청 후</a:t>
            </a:r>
            <a:r>
              <a:rPr sz="2280" b="1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 제공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9616" y="3032684"/>
            <a:ext cx="2476438" cy="320031"/>
          </a:xfrm>
          <a:prstGeom prst="roundRect">
            <a:avLst>
              <a:gd name="adj" fmla="val 50000"/>
            </a:avLst>
          </a:prstGeom>
          <a:solidFill>
            <a:srgbClr val="0C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9616" y="3032684"/>
            <a:ext cx="2476438" cy="320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019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상담신청 전환율 20% 개선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9616" y="3520351"/>
            <a:ext cx="3985160" cy="10667"/>
          </a:xfrm>
          <a:prstGeom prst="rect">
            <a:avLst/>
          </a:prstGeom>
          <a:solidFill>
            <a:srgbClr val="E5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9616" y="3657508"/>
            <a:ext cx="761980" cy="5791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960" b="1">
                <a:solidFill>
                  <a:srgbClr val="5C6478"/>
                </a:solidFill>
                <a:latin typeface="맑은 고딕"/>
                <a:ea typeface="맑은 고딕"/>
                <a:cs typeface="맑은 고딕"/>
              </a:rPr>
              <a:t>문제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16" y="3657508"/>
            <a:ext cx="3177460" cy="5791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110" b="0">
                <a:solidFill>
                  <a:srgbClr val="3A3F57"/>
                </a:solidFill>
                <a:latin typeface="맑은 고딕"/>
                <a:ea typeface="맑은 고딕"/>
                <a:cs typeface="맑은 고딕"/>
              </a:rPr>
              <a:t>분석 결과 리포트를 </a:t>
            </a:r>
            <a:r>
              <a:rPr sz="1110" b="1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상담 전에 바로 공개</a:t>
            </a:r>
            <a:r>
              <a:rPr sz="1110" b="0">
                <a:solidFill>
                  <a:srgbClr val="3A3F57"/>
                </a:solidFill>
                <a:latin typeface="맑은 고딕"/>
                <a:ea typeface="맑은 고딕"/>
                <a:cs typeface="맑은 고딕"/>
              </a:rPr>
              <a:t>해 상담 신청 동기가 약하고 이탈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9616" y="4236614"/>
            <a:ext cx="3985160" cy="7619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616" y="4236614"/>
            <a:ext cx="761980" cy="5791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960" b="1">
                <a:solidFill>
                  <a:srgbClr val="5C6478"/>
                </a:solidFill>
                <a:latin typeface="맑은 고딕"/>
                <a:ea typeface="맑은 고딕"/>
                <a:cs typeface="맑은 고딕"/>
              </a:rPr>
              <a:t>실행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16" y="4236614"/>
            <a:ext cx="3177460" cy="5791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110" b="0">
                <a:solidFill>
                  <a:srgbClr val="3A3F57"/>
                </a:solidFill>
                <a:latin typeface="맑은 고딕"/>
                <a:ea typeface="맑은 고딕"/>
                <a:cs typeface="맑은 고딕"/>
              </a:rPr>
              <a:t>간단 분석 결과를 먼저 보여주고, 상세 리포트는 </a:t>
            </a:r>
            <a:r>
              <a:rPr sz="1110" b="1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상담 신청 완료 후 제공</a:t>
            </a:r>
            <a:r>
              <a:rPr sz="1110" b="0">
                <a:solidFill>
                  <a:srgbClr val="3A3F57"/>
                </a:solidFill>
                <a:latin typeface="맑은 고딕"/>
                <a:ea typeface="맑은 고딕"/>
                <a:cs typeface="맑은 고딕"/>
              </a:rPr>
              <a:t>하도록 흐름 변경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9616" y="4815719"/>
            <a:ext cx="3985160" cy="7619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616" y="4815719"/>
            <a:ext cx="761980" cy="5791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960" b="1">
                <a:solidFill>
                  <a:srgbClr val="5C6478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16" y="4815719"/>
            <a:ext cx="3177460" cy="5791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110" b="0">
                <a:solidFill>
                  <a:srgbClr val="3A3F57"/>
                </a:solidFill>
                <a:latin typeface="맑은 고딕"/>
                <a:ea typeface="맑은 고딕"/>
                <a:cs typeface="맑은 고딕"/>
              </a:rPr>
              <a:t>수정 반영 후 전환율 </a:t>
            </a:r>
            <a:r>
              <a:rPr sz="1110" b="1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기존 대비 20% 개선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9616" y="5394825"/>
            <a:ext cx="3985160" cy="7619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9616" y="5394825"/>
            <a:ext cx="761980" cy="5791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960" b="1">
                <a:solidFill>
                  <a:srgbClr val="5C6478"/>
                </a:solidFill>
                <a:latin typeface="맑은 고딕"/>
                <a:ea typeface="맑은 고딕"/>
                <a:cs typeface="맑은 고딕"/>
              </a:rPr>
              <a:t>함께 확인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16" y="5394825"/>
            <a:ext cx="3177460" cy="5791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110" b="0">
                <a:solidFill>
                  <a:srgbClr val="3A3F57"/>
                </a:solidFill>
                <a:latin typeface="맑은 고딕"/>
                <a:ea typeface="맑은 고딕"/>
                <a:cs typeface="맑은 고딕"/>
              </a:rPr>
              <a:t>설계사 클레임 비율도 함께 점검해 상담 정보 품질 확인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70080" y="1889712"/>
            <a:ext cx="5951071" cy="457188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98675" y="1889712"/>
            <a:ext cx="5493882" cy="457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080" b="1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신청 과정 : 개선 전 → 개선 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52956" y="2514537"/>
            <a:ext cx="5585320" cy="1142971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35831" y="2636454"/>
            <a:ext cx="5219569" cy="1676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1">
                <a:solidFill>
                  <a:srgbClr val="5C6478"/>
                </a:solidFill>
                <a:latin typeface="맑은 고딕"/>
                <a:ea typeface="맑은 고딕"/>
                <a:cs typeface="맑은 고딕"/>
              </a:rPr>
              <a:t>개선 전 · 리포트 먼저 공개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35831" y="2910767"/>
            <a:ext cx="1156306" cy="60958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651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66310" y="2910767"/>
            <a:ext cx="1095347" cy="609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0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분석 요청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92137" y="2910767"/>
            <a:ext cx="198115" cy="609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9AA2B4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90252" y="2910767"/>
            <a:ext cx="1156306" cy="60958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651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20731" y="2910767"/>
            <a:ext cx="1095347" cy="609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0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분석 결과 리포트 공개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46558" y="2910767"/>
            <a:ext cx="198115" cy="609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9AA2B4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44673" y="2910767"/>
            <a:ext cx="1156306" cy="609584"/>
          </a:xfrm>
          <a:prstGeom prst="roundRect">
            <a:avLst>
              <a:gd name="adj" fmla="val 14000"/>
            </a:avLst>
          </a:prstGeom>
          <a:solidFill>
            <a:srgbClr val="FDEEF0"/>
          </a:solidFill>
          <a:ln w="16510">
            <a:solidFill>
              <a:srgbClr val="F0B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75153" y="2910767"/>
            <a:ext cx="1095347" cy="609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0">
                <a:solidFill>
                  <a:srgbClr val="B23A4A"/>
                </a:solidFill>
                <a:latin typeface="맑은 고딕"/>
                <a:ea typeface="맑은 고딕"/>
                <a:cs typeface="맑은 고딕"/>
              </a:rPr>
              <a:t>상담 신청 유도 약함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00979" y="2910767"/>
            <a:ext cx="198115" cy="609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9AA2B4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999095" y="2910767"/>
            <a:ext cx="1156306" cy="60958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6510">
            <a:solidFill>
              <a:srgbClr val="CBB0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29574" y="2910767"/>
            <a:ext cx="1095347" cy="609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0">
                <a:solidFill>
                  <a:srgbClr val="6F7590"/>
                </a:solidFill>
                <a:latin typeface="맑은 고딕"/>
                <a:ea typeface="맑은 고딕"/>
                <a:cs typeface="맑은 고딕"/>
              </a:rPr>
              <a:t>이탈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52956" y="3703227"/>
            <a:ext cx="5585320" cy="304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019" b="1">
                <a:solidFill>
                  <a:srgbClr val="0C6D8C"/>
                </a:solidFill>
                <a:latin typeface="맑은 고딕"/>
                <a:ea typeface="맑은 고딕"/>
                <a:cs typeface="맑은 고딕"/>
              </a:rPr>
              <a:t>↓  상세 리포트를 상담 신청 후 제공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752956" y="4053738"/>
            <a:ext cx="5585320" cy="1142971"/>
          </a:xfrm>
          <a:prstGeom prst="roundRect">
            <a:avLst>
              <a:gd name="adj" fmla="val 6000"/>
            </a:avLst>
          </a:prstGeom>
          <a:solidFill>
            <a:srgbClr val="EAF5FA"/>
          </a:solidFill>
          <a:ln w="12700">
            <a:solidFill>
              <a:srgbClr val="A0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35831" y="4175655"/>
            <a:ext cx="5219569" cy="1676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1">
                <a:solidFill>
                  <a:srgbClr val="0C6D8C"/>
                </a:solidFill>
                <a:latin typeface="맑은 고딕"/>
                <a:ea typeface="맑은 고딕"/>
                <a:cs typeface="맑은 고딕"/>
              </a:rPr>
              <a:t>개선 후 · 상세 리포트 게이팅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35831" y="4449968"/>
            <a:ext cx="1156306" cy="60958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651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66310" y="4449968"/>
            <a:ext cx="1095347" cy="609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0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분석 요청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92137" y="4449968"/>
            <a:ext cx="198115" cy="609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9AA2B4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290252" y="4449968"/>
            <a:ext cx="1156306" cy="60958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651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20731" y="4449968"/>
            <a:ext cx="1095347" cy="609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0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간단 분석 결과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46558" y="4449968"/>
            <a:ext cx="198115" cy="609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9AA2B4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644673" y="4449968"/>
            <a:ext cx="1156306" cy="609584"/>
          </a:xfrm>
          <a:prstGeom prst="roundRect">
            <a:avLst>
              <a:gd name="adj" fmla="val 14000"/>
            </a:avLst>
          </a:prstGeom>
          <a:solidFill>
            <a:srgbClr val="E7F4F9"/>
          </a:solidFill>
          <a:ln w="16510">
            <a:solidFill>
              <a:srgbClr val="A0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75153" y="4449968"/>
            <a:ext cx="1095347" cy="609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1">
                <a:solidFill>
                  <a:srgbClr val="0C6D8C"/>
                </a:solidFill>
                <a:latin typeface="맑은 고딕"/>
                <a:ea typeface="맑은 고딕"/>
                <a:cs typeface="맑은 고딕"/>
              </a:rPr>
              <a:t>상담 신청 완료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00979" y="4449968"/>
            <a:ext cx="198115" cy="609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9AA2B4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999095" y="4449968"/>
            <a:ext cx="1156306" cy="609584"/>
          </a:xfrm>
          <a:prstGeom prst="roundRect">
            <a:avLst>
              <a:gd name="adj" fmla="val 14000"/>
            </a:avLst>
          </a:prstGeom>
          <a:solidFill>
            <a:srgbClr val="0C6D8C"/>
          </a:solidFill>
          <a:ln w="16510">
            <a:solidFill>
              <a:srgbClr val="0C6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029574" y="4449968"/>
            <a:ext cx="1095347" cy="609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상세 리포트 제공 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92397" y="502907"/>
            <a:ext cx="1828754" cy="18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869" b="1">
                <a:solidFill>
                  <a:srgbClr val="9298B0"/>
                </a:solidFill>
                <a:latin typeface="맑은 고딕"/>
                <a:ea typeface="맑은 고딕"/>
                <a:cs typeface="맑은 고딕"/>
              </a:rPr>
              <a:t>DAI · 정치성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01982" y="6293962"/>
            <a:ext cx="1219169" cy="18287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spcBef>
                <a:spcPts val="0"/>
              </a:spcBef>
            </a:pPr>
            <a:r>
              <a:rPr sz="869" b="1">
                <a:solidFill>
                  <a:srgbClr val="6F7590"/>
                </a:solidFill>
                <a:latin typeface="맑은 고딕"/>
                <a:ea typeface="맑은 고딕"/>
                <a:cs typeface="맑은 고딕"/>
              </a:rPr>
              <a:t>04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43" y="472428"/>
            <a:ext cx="6857828" cy="1981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29" b="1">
                <a:solidFill>
                  <a:srgbClr val="5C6478"/>
                </a:solidFill>
                <a:latin typeface="맑은 고딕"/>
                <a:ea typeface="맑은 고딕"/>
                <a:cs typeface="맑은 고딕"/>
              </a:rPr>
              <a:t>사례 02 · THK</a:t>
            </a:r>
          </a:p>
        </p:txBody>
      </p:sp>
      <p:sp>
        <p:nvSpPr>
          <p:cNvPr id="6" name="Rectangle 5"/>
          <p:cNvSpPr/>
          <p:nvPr/>
        </p:nvSpPr>
        <p:spPr>
          <a:xfrm>
            <a:off x="670543" y="701022"/>
            <a:ext cx="1318227" cy="18287"/>
          </a:xfrm>
          <a:prstGeom prst="rect">
            <a:avLst/>
          </a:prstGeom>
          <a:solidFill>
            <a:srgbClr val="CB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0543" y="792460"/>
            <a:ext cx="10972525" cy="5333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3000" b="1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직배송 확인 업무를 시스템화해 일 처리시간을 </a:t>
            </a:r>
            <a:r>
              <a:rPr sz="3000" b="1">
                <a:solidFill>
                  <a:srgbClr val="0C6D8C"/>
                </a:solidFill>
                <a:latin typeface="맑은 고딕"/>
                <a:ea typeface="맑은 고딕"/>
                <a:cs typeface="맑은 고딕"/>
              </a:rPr>
              <a:t>단축</a:t>
            </a:r>
          </a:p>
        </p:txBody>
      </p:sp>
      <p:sp>
        <p:nvSpPr>
          <p:cNvPr id="8" name="Rectangle 7"/>
          <p:cNvSpPr/>
          <p:nvPr/>
        </p:nvSpPr>
        <p:spPr>
          <a:xfrm>
            <a:off x="670543" y="1386805"/>
            <a:ext cx="167635" cy="15239"/>
          </a:xfrm>
          <a:prstGeom prst="rect">
            <a:avLst/>
          </a:prstGeom>
          <a:solidFill>
            <a:srgbClr val="C3C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9616" y="1310607"/>
            <a:ext cx="9143771" cy="1981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6F7590"/>
                </a:solidFill>
                <a:latin typeface="맑은 고딕"/>
                <a:ea typeface="맑은 고딕"/>
                <a:cs typeface="맑은 고딕"/>
              </a:rPr>
              <a:t>고물량 제조사 적용 구간 기준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0543" y="1889712"/>
            <a:ext cx="4389010" cy="4267093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778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64345" y="1889712"/>
            <a:ext cx="6156806" cy="4267093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778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9616" y="2118307"/>
            <a:ext cx="3931821" cy="8381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2039" b="1">
                <a:solidFill>
                  <a:srgbClr val="5C6478"/>
                </a:solidFill>
                <a:latin typeface="맑은 고딕"/>
                <a:ea typeface="맑은 고딕"/>
                <a:cs typeface="맑은 고딕"/>
              </a:rPr>
              <a:t>약 </a:t>
            </a:r>
            <a:r>
              <a:rPr sz="6359" b="1">
                <a:solidFill>
                  <a:srgbClr val="0C6D8C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sz="2520" b="1">
                <a:solidFill>
                  <a:srgbClr val="6F7590"/>
                </a:solidFill>
                <a:latin typeface="맑은 고딕"/>
                <a:ea typeface="맑은 고딕"/>
                <a:cs typeface="맑은 고딕"/>
              </a:rPr>
              <a:t>배</a:t>
            </a:r>
            <a:r>
              <a:rPr sz="1560" b="1">
                <a:solidFill>
                  <a:srgbClr val="5C6478"/>
                </a:solidFill>
                <a:latin typeface="맑은 고딕"/>
                <a:ea typeface="맑은 고딕"/>
                <a:cs typeface="맑은 고딕"/>
              </a:rPr>
              <a:t>   단축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9616" y="3032684"/>
            <a:ext cx="3931821" cy="2285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80" b="1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일일 처리업무 시간</a:t>
            </a:r>
            <a:r>
              <a:rPr sz="1080" b="0">
                <a:solidFill>
                  <a:srgbClr val="3A3F57"/>
                </a:solidFill>
                <a:latin typeface="맑은 고딕"/>
                <a:ea typeface="맑은 고딕"/>
                <a:cs typeface="맑은 고딕"/>
              </a:rPr>
              <a:t> 기준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9616" y="3352716"/>
            <a:ext cx="3870863" cy="10667"/>
          </a:xfrm>
          <a:prstGeom prst="rect">
            <a:avLst/>
          </a:prstGeom>
          <a:solidFill>
            <a:srgbClr val="E5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9616" y="3489872"/>
            <a:ext cx="914377" cy="563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960" b="1">
                <a:solidFill>
                  <a:srgbClr val="5C6478"/>
                </a:solidFill>
                <a:latin typeface="맑은 고딕"/>
                <a:ea typeface="맑은 고딕"/>
                <a:cs typeface="맑은 고딕"/>
              </a:rPr>
              <a:t>개선 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89712" y="3489872"/>
            <a:ext cx="2910767" cy="563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110" b="0">
                <a:solidFill>
                  <a:srgbClr val="3A3F57"/>
                </a:solidFill>
                <a:latin typeface="맑은 고딕"/>
                <a:ea typeface="맑은 고딕"/>
                <a:cs typeface="맑은 고딕"/>
              </a:rPr>
              <a:t>재고 미보유 주문의 </a:t>
            </a:r>
            <a:r>
              <a:rPr sz="1110" b="1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수기 확인</a:t>
            </a:r>
            <a:r>
              <a:rPr sz="1110" b="0">
                <a:solidFill>
                  <a:srgbClr val="3A3F57"/>
                </a:solidFill>
                <a:latin typeface="맑은 고딕"/>
                <a:ea typeface="맑은 고딕"/>
                <a:cs typeface="맑은 고딕"/>
              </a:rPr>
              <a:t>·제조사 개별 연락, 진행·예외 확인에 업무 집중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9616" y="4053738"/>
            <a:ext cx="3870863" cy="7619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616" y="4053738"/>
            <a:ext cx="914377" cy="563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960" b="1">
                <a:solidFill>
                  <a:srgbClr val="5C6478"/>
                </a:solidFill>
                <a:latin typeface="맑은 고딕"/>
                <a:ea typeface="맑은 고딕"/>
                <a:cs typeface="맑은 고딕"/>
              </a:rPr>
              <a:t>본인 변경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9712" y="4053738"/>
            <a:ext cx="2910767" cy="563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110" b="0">
                <a:solidFill>
                  <a:srgbClr val="3A3F57"/>
                </a:solidFill>
                <a:latin typeface="맑은 고딕"/>
                <a:ea typeface="맑은 고딕"/>
                <a:cs typeface="맑은 고딕"/>
              </a:rPr>
              <a:t>주문 상태·처리 흐름을 정리하고, 담당 업무·예외 처리를 </a:t>
            </a:r>
            <a:r>
              <a:rPr sz="1110" b="1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관리자 시스템</a:t>
            </a:r>
            <a:r>
              <a:rPr sz="1110" b="0">
                <a:solidFill>
                  <a:srgbClr val="3A3F57"/>
                </a:solidFill>
                <a:latin typeface="맑은 고딕"/>
                <a:ea typeface="맑은 고딕"/>
                <a:cs typeface="맑은 고딕"/>
              </a:rPr>
              <a:t>에 반영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9616" y="4617604"/>
            <a:ext cx="3870863" cy="7619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616" y="4617604"/>
            <a:ext cx="914377" cy="563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960" b="1">
                <a:solidFill>
                  <a:srgbClr val="5C6478"/>
                </a:solidFill>
                <a:latin typeface="맑은 고딕"/>
                <a:ea typeface="맑은 고딕"/>
                <a:cs typeface="맑은 고딕"/>
              </a:rPr>
              <a:t>적용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89712" y="4617604"/>
            <a:ext cx="2910767" cy="563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110" b="0">
                <a:solidFill>
                  <a:srgbClr val="3A3F57"/>
                </a:solidFill>
                <a:latin typeface="맑은 고딕"/>
                <a:ea typeface="맑은 고딕"/>
                <a:cs typeface="맑은 고딕"/>
              </a:rPr>
              <a:t>제조사별 운영 여건에 맞춰 적용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8179" y="5333866"/>
            <a:ext cx="4053738" cy="670543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8179" y="5333866"/>
            <a:ext cx="30479" cy="670543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14" y="5440543"/>
            <a:ext cx="3855623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780" b="1">
                <a:solidFill>
                  <a:srgbClr val="6F7590"/>
                </a:solidFill>
                <a:latin typeface="맑은 고딕"/>
                <a:ea typeface="맑은 고딕"/>
                <a:cs typeface="맑은 고딕"/>
              </a:rPr>
              <a:t>보조 근거 · 수급자 조회·관리 기능 이용률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14" y="5592940"/>
            <a:ext cx="990575" cy="3505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680" b="1">
                <a:solidFill>
                  <a:srgbClr val="3A3F57"/>
                </a:solidFill>
                <a:latin typeface="맑은 고딕"/>
                <a:ea typeface="맑은 고딕"/>
                <a:cs typeface="맑은 고딕"/>
              </a:rPr>
              <a:t>약 30</a:t>
            </a:r>
            <a:r>
              <a:rPr sz="1019" b="1">
                <a:solidFill>
                  <a:srgbClr val="3A3F57"/>
                </a:solidFill>
                <a:latin typeface="맑은 고딕"/>
                <a:ea typeface="맑은 고딕"/>
                <a:cs typeface="맑은 고딕"/>
              </a:rPr>
              <a:t>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89712" y="5562460"/>
            <a:ext cx="2834569" cy="4267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869" b="0">
                <a:solidFill>
                  <a:srgbClr val="3A3F57"/>
                </a:solidFill>
                <a:latin typeface="맑은 고딕"/>
                <a:ea typeface="맑은 고딕"/>
                <a:cs typeface="맑은 고딕"/>
              </a:rPr>
              <a:t>수급자 대상 직배송이라 자격·급여 기준·구매 정보 조회가 함께 필요 — 관련 조회·관리 기능도 </a:t>
            </a:r>
            <a:r>
              <a:rPr sz="869" b="1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고도화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64345" y="1889712"/>
            <a:ext cx="6156806" cy="563865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92940" y="1996390"/>
            <a:ext cx="5699617" cy="2285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80" b="1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일일 처리업무 시간 비교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92940" y="2224984"/>
            <a:ext cx="5699617" cy="18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869" b="0">
                <a:solidFill>
                  <a:srgbClr val="6F7590"/>
                </a:solidFill>
                <a:latin typeface="맑은 고딕"/>
                <a:ea typeface="맑은 고딕"/>
                <a:cs typeface="맑은 고딕"/>
              </a:rPr>
              <a:t>단위 : 하루 처리업무 시간(h) · 동일 척도 비교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47381" y="3154601"/>
            <a:ext cx="1447763" cy="22859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Bef>
                <a:spcPts val="0"/>
              </a:spcBef>
            </a:pPr>
            <a:r>
              <a:rPr sz="1560" b="1">
                <a:solidFill>
                  <a:srgbClr val="3A3F57"/>
                </a:solidFill>
                <a:latin typeface="맑은 고딕"/>
                <a:ea typeface="맑은 고딕"/>
                <a:cs typeface="맑은 고딕"/>
              </a:rPr>
              <a:t>약 6시간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99777" y="3459393"/>
            <a:ext cx="1142971" cy="1798275"/>
          </a:xfrm>
          <a:prstGeom prst="roundRect">
            <a:avLst>
              <a:gd name="adj" fmla="val 6000"/>
            </a:avLst>
          </a:prstGeom>
          <a:solidFill>
            <a:srgbClr val="5F6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47381" y="5364345"/>
            <a:ext cx="1447763" cy="1981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140" b="1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개선 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47381" y="5562460"/>
            <a:ext cx="1447763" cy="1676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869" b="0">
                <a:solidFill>
                  <a:srgbClr val="6F7590"/>
                </a:solidFill>
                <a:latin typeface="맑은 고딕"/>
                <a:ea typeface="맑은 고딕"/>
                <a:cs typeface="맑은 고딕"/>
              </a:rPr>
              <a:t>수기 확인 중심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739" y="4350911"/>
            <a:ext cx="1447763" cy="22859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Bef>
                <a:spcPts val="0"/>
              </a:spcBef>
            </a:pPr>
            <a:r>
              <a:rPr sz="1560" b="1">
                <a:solidFill>
                  <a:srgbClr val="0C6D8C"/>
                </a:solidFill>
                <a:latin typeface="맑은 고딕"/>
                <a:ea typeface="맑은 고딕"/>
                <a:cs typeface="맑은 고딕"/>
              </a:rPr>
              <a:t>약 2시간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76135" y="4655703"/>
            <a:ext cx="1142971" cy="601964"/>
          </a:xfrm>
          <a:prstGeom prst="roundRect">
            <a:avLst>
              <a:gd name="adj" fmla="val 6000"/>
            </a:avLst>
          </a:prstGeom>
          <a:solidFill>
            <a:srgbClr val="139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23739" y="5364345"/>
            <a:ext cx="1447763" cy="1981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140" b="1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개선 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23739" y="5562460"/>
            <a:ext cx="1447763" cy="1676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869" b="0">
                <a:solidFill>
                  <a:srgbClr val="6F7590"/>
                </a:solidFill>
                <a:latin typeface="맑은 고딕"/>
                <a:ea typeface="맑은 고딕"/>
                <a:cs typeface="맑은 고딕"/>
              </a:rPr>
              <a:t>시스템 구조화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92940" y="5303387"/>
            <a:ext cx="5699617" cy="15239"/>
          </a:xfrm>
          <a:prstGeom prst="rect">
            <a:avLst/>
          </a:prstGeom>
          <a:solidFill>
            <a:srgbClr val="E5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531981" y="5806294"/>
            <a:ext cx="5821534" cy="7619"/>
          </a:xfrm>
          <a:prstGeom prst="rect">
            <a:avLst/>
          </a:prstGeom>
          <a:solidFill>
            <a:srgbClr val="E5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92940" y="5836774"/>
            <a:ext cx="5699617" cy="2285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960" b="1">
                <a:solidFill>
                  <a:srgbClr val="5C6478"/>
                </a:solidFill>
                <a:latin typeface="맑은 고딕"/>
                <a:ea typeface="맑은 고딕"/>
                <a:cs typeface="맑은 고딕"/>
              </a:rPr>
              <a:t>적용 범위 : 고물량 제조사 적용 구간의 일일 처리업무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92397" y="502907"/>
            <a:ext cx="1828754" cy="18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869" b="1">
                <a:solidFill>
                  <a:srgbClr val="9298B0"/>
                </a:solidFill>
                <a:latin typeface="맑은 고딕"/>
                <a:ea typeface="맑은 고딕"/>
                <a:cs typeface="맑은 고딕"/>
              </a:rPr>
              <a:t>DAI · 정치성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01982" y="6293962"/>
            <a:ext cx="1219169" cy="18287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spcBef>
                <a:spcPts val="0"/>
              </a:spcBef>
            </a:pPr>
            <a:r>
              <a:rPr sz="869" b="1">
                <a:solidFill>
                  <a:srgbClr val="6F7590"/>
                </a:solidFill>
                <a:latin typeface="맑은 고딕"/>
                <a:ea typeface="맑은 고딕"/>
                <a:cs typeface="맑은 고딕"/>
              </a:rPr>
              <a:t>05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43" y="472428"/>
            <a:ext cx="6857828" cy="1981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29" b="1">
                <a:solidFill>
                  <a:srgbClr val="5C6478"/>
                </a:solidFill>
                <a:latin typeface="맑은 고딕"/>
                <a:ea typeface="맑은 고딕"/>
                <a:cs typeface="맑은 고딕"/>
              </a:rPr>
              <a:t>사례 03 · 병원 원무</a:t>
            </a:r>
          </a:p>
        </p:txBody>
      </p:sp>
      <p:sp>
        <p:nvSpPr>
          <p:cNvPr id="6" name="Rectangle 5"/>
          <p:cNvSpPr/>
          <p:nvPr/>
        </p:nvSpPr>
        <p:spPr>
          <a:xfrm>
            <a:off x="670543" y="701022"/>
            <a:ext cx="1516342" cy="18287"/>
          </a:xfrm>
          <a:prstGeom prst="rect">
            <a:avLst/>
          </a:prstGeom>
          <a:solidFill>
            <a:srgbClr val="CB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0543" y="792460"/>
            <a:ext cx="10972525" cy="5333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기존 EMR API로 예약~수납 원무를 </a:t>
            </a:r>
            <a:r>
              <a:rPr sz="3000" b="1">
                <a:solidFill>
                  <a:srgbClr val="0C6D8C"/>
                </a:solidFill>
                <a:latin typeface="맑은 고딕"/>
                <a:ea typeface="맑은 고딕"/>
                <a:cs typeface="맑은 고딕"/>
              </a:rPr>
              <a:t>환자 모바일에 연결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0543" y="1600159"/>
            <a:ext cx="1219169" cy="457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960" b="1">
                <a:solidFill>
                  <a:srgbClr val="5C6478"/>
                </a:solidFill>
                <a:latin typeface="맑은 고딕"/>
                <a:ea typeface="맑은 고딕"/>
                <a:cs typeface="맑은 고딕"/>
              </a:rPr>
              <a:t>환자 이용 흐름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42108" y="1600159"/>
            <a:ext cx="1142971" cy="4419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42108" y="1600159"/>
            <a:ext cx="1142971" cy="441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260" b="1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예약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5080" y="1600159"/>
            <a:ext cx="533386" cy="441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439" b="1">
                <a:solidFill>
                  <a:srgbClr val="CBD2DE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18467" y="1600159"/>
            <a:ext cx="1142971" cy="4419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18467" y="1600159"/>
            <a:ext cx="1142971" cy="441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260" b="1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도착 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1438" y="1600159"/>
            <a:ext cx="533386" cy="441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439" b="1">
                <a:solidFill>
                  <a:srgbClr val="CBD2DE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825" y="1600159"/>
            <a:ext cx="1142971" cy="4419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825" y="1600159"/>
            <a:ext cx="1142971" cy="441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260" b="1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조회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796" y="1600159"/>
            <a:ext cx="533386" cy="441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439" b="1">
                <a:solidFill>
                  <a:srgbClr val="CBD2DE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71183" y="1600159"/>
            <a:ext cx="1142971" cy="4419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71183" y="1600159"/>
            <a:ext cx="1142971" cy="441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260" b="1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수납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0543" y="2285942"/>
            <a:ext cx="7010224" cy="3489872"/>
          </a:xfrm>
          <a:prstGeom prst="roundRect">
            <a:avLst>
              <a:gd name="adj" fmla="val 4000"/>
            </a:avLst>
          </a:prstGeom>
          <a:solidFill>
            <a:srgbClr val="EAF5FA"/>
          </a:solidFill>
          <a:ln w="25400">
            <a:solidFill>
              <a:srgbClr val="1391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8658" y="2164025"/>
            <a:ext cx="1142971" cy="243833"/>
          </a:xfrm>
          <a:prstGeom prst="roundRect">
            <a:avLst>
              <a:gd name="adj" fmla="val 50000"/>
            </a:avLst>
          </a:prstGeom>
          <a:solidFill>
            <a:srgbClr val="139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58" y="2164025"/>
            <a:ext cx="1142971" cy="2438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84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 연결 구조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137" y="2545016"/>
            <a:ext cx="6553036" cy="8229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66773" y="2758371"/>
            <a:ext cx="396230" cy="396230"/>
          </a:xfrm>
          <a:prstGeom prst="roundRect">
            <a:avLst>
              <a:gd name="adj" fmla="val 22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84920" y="2682172"/>
            <a:ext cx="5638659" cy="2590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20" b="1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원무 모바일 서비스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4920" y="2956486"/>
            <a:ext cx="5638659" cy="2285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1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환자가 쓰는 예약 · 조회 · 수납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137" y="3394625"/>
            <a:ext cx="6553036" cy="2438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900" b="1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↕  </a:t>
            </a:r>
            <a:r>
              <a:rPr sz="869" b="1">
                <a:solidFill>
                  <a:srgbClr val="5C6478"/>
                </a:solidFill>
                <a:latin typeface="맑은 고딕"/>
                <a:ea typeface="맑은 고딕"/>
                <a:cs typeface="맑은 고딕"/>
              </a:rPr>
              <a:t>기존 API 연동 · 수행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9137" y="3726086"/>
            <a:ext cx="6553036" cy="8229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0480">
            <a:solidFill>
              <a:srgbClr val="1391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66773" y="3939441"/>
            <a:ext cx="396230" cy="396230"/>
          </a:xfrm>
          <a:prstGeom prst="roundRect">
            <a:avLst>
              <a:gd name="adj" fmla="val 22000"/>
            </a:avLst>
          </a:prstGeom>
          <a:solidFill>
            <a:srgbClr val="139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84920" y="3863243"/>
            <a:ext cx="5638659" cy="2590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39" b="1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기존 EMR 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84920" y="4137556"/>
            <a:ext cx="5638659" cy="2285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1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업체 제공 데이터·기능을 그대로 재사용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9137" y="4575695"/>
            <a:ext cx="6553036" cy="2438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900" b="1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↕  </a:t>
            </a:r>
            <a:r>
              <a:rPr sz="869" b="1">
                <a:solidFill>
                  <a:srgbClr val="5C6478"/>
                </a:solidFill>
                <a:latin typeface="맑은 고딕"/>
                <a:ea typeface="맑은 고딕"/>
                <a:cs typeface="맑은 고딕"/>
              </a:rPr>
              <a:t>원무 절차 기반 조율 · 수행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9137" y="4907157"/>
            <a:ext cx="6553036" cy="8229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66773" y="5120511"/>
            <a:ext cx="396230" cy="396230"/>
          </a:xfrm>
          <a:prstGeom prst="roundRect">
            <a:avLst>
              <a:gd name="adj" fmla="val 22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84920" y="5044313"/>
            <a:ext cx="5638659" cy="2590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20" b="1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병원 원무 절차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84920" y="5318627"/>
            <a:ext cx="5638659" cy="2285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1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병원 · EMR사 · 개발조직 요구 조율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85560" y="2285942"/>
            <a:ext cx="3535591" cy="3489872"/>
          </a:xfrm>
          <a:prstGeom prst="roundRect">
            <a:avLst>
              <a:gd name="adj" fmla="val 4000"/>
            </a:avLst>
          </a:prstGeom>
          <a:solidFill>
            <a:srgbClr val="F5F7FB"/>
          </a:solidFill>
          <a:ln w="25400">
            <a:solidFill>
              <a:srgbClr val="929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83675" y="2453578"/>
            <a:ext cx="3139361" cy="18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60" b="1">
                <a:solidFill>
                  <a:srgbClr val="6F7590"/>
                </a:solidFill>
                <a:latin typeface="맑은 고딕"/>
                <a:ea typeface="맑은 고딕"/>
                <a:cs typeface="맑은 고딕"/>
              </a:rPr>
              <a:t>제안 · 검토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3675" y="2849808"/>
            <a:ext cx="3139361" cy="4571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40" b="0">
                <a:solidFill>
                  <a:srgbClr val="3A3F57"/>
                </a:solidFill>
                <a:latin typeface="맑은 고딕"/>
                <a:ea typeface="맑은 고딕"/>
                <a:cs typeface="맑은 고딕"/>
              </a:rPr>
              <a:t>반복 기능의 </a:t>
            </a:r>
            <a:r>
              <a:rPr sz="1140" b="1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공통화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83675" y="3428914"/>
            <a:ext cx="3139361" cy="7619"/>
          </a:xfrm>
          <a:prstGeom prst="rect">
            <a:avLst/>
          </a:prstGeom>
          <a:solidFill>
            <a:srgbClr val="E5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83675" y="3596550"/>
            <a:ext cx="3139361" cy="6857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40" b="0">
                <a:solidFill>
                  <a:srgbClr val="3A3F57"/>
                </a:solidFill>
                <a:latin typeface="맑은 고딕"/>
                <a:ea typeface="맑은 고딕"/>
                <a:cs typeface="맑은 고딕"/>
              </a:rPr>
              <a:t>병원 공통 </a:t>
            </a:r>
            <a:r>
              <a:rPr sz="1140" b="1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통합 플랫폼 방향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0543" y="6019649"/>
            <a:ext cx="3962300" cy="1981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840" b="1">
                <a:solidFill>
                  <a:srgbClr val="1391B8"/>
                </a:solidFill>
                <a:latin typeface="맑은 고딕"/>
                <a:ea typeface="맑은 고딕"/>
                <a:cs typeface="맑은 고딕"/>
              </a:rPr>
              <a:t>■ </a:t>
            </a:r>
            <a:r>
              <a:rPr sz="960" b="1">
                <a:solidFill>
                  <a:srgbClr val="3A3F57"/>
                </a:solidFill>
                <a:latin typeface="맑은 고딕"/>
                <a:ea typeface="맑은 고딕"/>
                <a:cs typeface="맑은 고딕"/>
              </a:rPr>
              <a:t>수행 (기존 API 기반 기획·조율)      </a:t>
            </a:r>
            <a:r>
              <a:rPr sz="840" b="1">
                <a:solidFill>
                  <a:srgbClr val="9298B0"/>
                </a:solidFill>
                <a:latin typeface="맑은 고딕"/>
                <a:ea typeface="맑은 고딕"/>
                <a:cs typeface="맑은 고딕"/>
              </a:rPr>
              <a:t>▨ </a:t>
            </a:r>
            <a:r>
              <a:rPr sz="960" b="1">
                <a:solidFill>
                  <a:srgbClr val="3A3F57"/>
                </a:solidFill>
                <a:latin typeface="맑은 고딕"/>
                <a:ea typeface="맑은 고딕"/>
                <a:cs typeface="맑은 고딕"/>
              </a:rPr>
              <a:t>제안·검토 (공통화·통합 방향)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37636" y="6004409"/>
            <a:ext cx="2042108" cy="22859"/>
          </a:xfrm>
          <a:prstGeom prst="rect">
            <a:avLst/>
          </a:prstGeom>
          <a:solidFill>
            <a:srgbClr val="E5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636" y="6080607"/>
            <a:ext cx="2011629" cy="18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60" b="1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병원별 차이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37636" y="6263483"/>
            <a:ext cx="2011629" cy="18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869" b="0">
                <a:solidFill>
                  <a:srgbClr val="3A3F57"/>
                </a:solidFill>
                <a:latin typeface="맑은 고딕"/>
                <a:ea typeface="맑은 고딕"/>
                <a:cs typeface="맑은 고딕"/>
              </a:rPr>
              <a:t>기관마다 요구사항이 다름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32141" y="6004409"/>
            <a:ext cx="2042108" cy="22859"/>
          </a:xfrm>
          <a:prstGeom prst="rect">
            <a:avLst/>
          </a:prstGeom>
          <a:solidFill>
            <a:srgbClr val="E5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141" y="6080607"/>
            <a:ext cx="2011629" cy="18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60" b="1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EMR 업체별 차이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141" y="6263483"/>
            <a:ext cx="2011629" cy="18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869" b="0">
                <a:solidFill>
                  <a:srgbClr val="3A3F57"/>
                </a:solidFill>
                <a:latin typeface="맑은 고딕"/>
                <a:ea typeface="맑은 고딕"/>
                <a:cs typeface="맑은 고딕"/>
              </a:rPr>
              <a:t>제공 데이터·기능이 상이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6646" y="6004409"/>
            <a:ext cx="2042108" cy="22859"/>
          </a:xfrm>
          <a:prstGeom prst="rect">
            <a:avLst/>
          </a:prstGeom>
          <a:solidFill>
            <a:srgbClr val="E5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26646" y="6080607"/>
            <a:ext cx="2011629" cy="18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60" b="1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추가 개발·협의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26646" y="6263483"/>
            <a:ext cx="2011629" cy="18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869" b="0">
                <a:solidFill>
                  <a:srgbClr val="3A3F57"/>
                </a:solidFill>
                <a:latin typeface="맑은 고딕"/>
                <a:ea typeface="맑은 고딕"/>
                <a:cs typeface="맑은 고딕"/>
              </a:rPr>
              <a:t>협의·비용이 별도로 필요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92397" y="502907"/>
            <a:ext cx="1828754" cy="18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869" b="1">
                <a:solidFill>
                  <a:srgbClr val="9298B0"/>
                </a:solidFill>
                <a:latin typeface="맑은 고딕"/>
                <a:ea typeface="맑은 고딕"/>
                <a:cs typeface="맑은 고딕"/>
              </a:rPr>
              <a:t>DAI · 정치성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01982" y="6293962"/>
            <a:ext cx="1219169" cy="18287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spcBef>
                <a:spcPts val="0"/>
              </a:spcBef>
            </a:pPr>
            <a:r>
              <a:rPr sz="869" b="1">
                <a:solidFill>
                  <a:srgbClr val="6F7590"/>
                </a:solidFill>
                <a:latin typeface="맑은 고딕"/>
                <a:ea typeface="맑은 고딕"/>
                <a:cs typeface="맑은 고딕"/>
              </a:rPr>
              <a:t>06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43" y="472428"/>
            <a:ext cx="6857828" cy="1981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29" b="1">
                <a:solidFill>
                  <a:srgbClr val="5C6478"/>
                </a:solidFill>
                <a:latin typeface="맑은 고딕"/>
                <a:ea typeface="맑은 고딕"/>
                <a:cs typeface="맑은 고딕"/>
              </a:rPr>
              <a:t>사례 04 · 코나아이</a:t>
            </a:r>
          </a:p>
        </p:txBody>
      </p:sp>
      <p:sp>
        <p:nvSpPr>
          <p:cNvPr id="6" name="Rectangle 5"/>
          <p:cNvSpPr/>
          <p:nvPr/>
        </p:nvSpPr>
        <p:spPr>
          <a:xfrm>
            <a:off x="670543" y="701022"/>
            <a:ext cx="1417284" cy="18287"/>
          </a:xfrm>
          <a:prstGeom prst="rect">
            <a:avLst/>
          </a:prstGeom>
          <a:solidFill>
            <a:srgbClr val="CB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0543" y="792460"/>
            <a:ext cx="10972525" cy="5333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복잡한 요청도 선택안 비교로 정리해 </a:t>
            </a:r>
            <a:r>
              <a:rPr sz="3000" b="1">
                <a:solidFill>
                  <a:srgbClr val="0C6D8C"/>
                </a:solidFill>
                <a:latin typeface="맑은 고딕"/>
                <a:ea typeface="맑은 고딕"/>
                <a:cs typeface="맑은 고딕"/>
              </a:rPr>
              <a:t>경영진 결정을 돕습니다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0543" y="1584920"/>
            <a:ext cx="10850608" cy="2133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19" b="0">
                <a:solidFill>
                  <a:srgbClr val="6F7590"/>
                </a:solidFill>
                <a:latin typeface="맑은 고딕"/>
                <a:ea typeface="맑은 고딕"/>
                <a:cs typeface="맑은 고딕"/>
              </a:rPr>
              <a:t>본인이 맡은 </a:t>
            </a:r>
            <a:r>
              <a:rPr sz="1019" b="1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3개 팀</a:t>
            </a:r>
            <a:r>
              <a:rPr sz="1019" b="0">
                <a:solidFill>
                  <a:srgbClr val="6F7590"/>
                </a:solidFill>
                <a:latin typeface="맑은 고딕"/>
                <a:ea typeface="맑은 고딕"/>
                <a:cs typeface="맑은 고딕"/>
              </a:rPr>
              <a:t> · 코나카드는 직접 겸직, 지역화폐·모빌리티는 팀장 중심 운영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0543" y="1889712"/>
            <a:ext cx="3505112" cy="7010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0543" y="1889712"/>
            <a:ext cx="38099" cy="701022"/>
          </a:xfrm>
          <a:prstGeom prst="rect">
            <a:avLst/>
          </a:prstGeom>
          <a:solidFill>
            <a:srgbClr val="139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3897" y="1889712"/>
            <a:ext cx="2285942" cy="7010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560" b="1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코나카드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897" y="1889712"/>
            <a:ext cx="3154601" cy="7010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</a:pPr>
            <a:r>
              <a:rPr sz="990" b="1">
                <a:solidFill>
                  <a:srgbClr val="0C6D8C"/>
                </a:solidFill>
                <a:latin typeface="맑은 고딕"/>
                <a:ea typeface="맑은 고딕"/>
                <a:cs typeface="맑은 고딕"/>
              </a:rPr>
              <a:t>직접 겸직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291" y="1889712"/>
            <a:ext cx="3505112" cy="7010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6646" y="1889712"/>
            <a:ext cx="2285942" cy="7010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560" b="1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지역화폐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6646" y="1889712"/>
            <a:ext cx="3154601" cy="7010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</a:pPr>
            <a:r>
              <a:rPr sz="990" b="1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팀장 중심 운영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6039" y="1889712"/>
            <a:ext cx="3505112" cy="7010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394" y="1889712"/>
            <a:ext cx="2285942" cy="7010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560" b="1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모빌리티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394" y="1889712"/>
            <a:ext cx="3154601" cy="7010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</a:pPr>
            <a:r>
              <a:rPr sz="990" b="1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팀장 중심 운영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0543" y="2941246"/>
            <a:ext cx="5150991" cy="2285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80" b="1">
                <a:solidFill>
                  <a:srgbClr val="334155"/>
                </a:solidFill>
                <a:latin typeface="맑은 고딕"/>
                <a:ea typeface="맑은 고딕"/>
                <a:cs typeface="맑은 고딕"/>
              </a:rPr>
              <a:t>우선순위 판단 기준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0543" y="3200319"/>
            <a:ext cx="5150991" cy="19049"/>
          </a:xfrm>
          <a:prstGeom prst="rect">
            <a:avLst/>
          </a:prstGeom>
          <a:solidFill>
            <a:srgbClr val="E5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0543" y="3474633"/>
            <a:ext cx="68578" cy="68578"/>
          </a:xfrm>
          <a:prstGeom prst="roundRect">
            <a:avLst>
              <a:gd name="adj" fmla="val 50000"/>
            </a:avLst>
          </a:prstGeom>
          <a:solidFill>
            <a:srgbClr val="139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179" y="3306997"/>
            <a:ext cx="4983355" cy="457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3A3F57"/>
                </a:solidFill>
                <a:latin typeface="맑은 고딕"/>
                <a:ea typeface="맑은 고딕"/>
                <a:cs typeface="맑은 고딕"/>
              </a:rPr>
              <a:t>외부와 합의한 일정·약속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0543" y="3794665"/>
            <a:ext cx="5150991" cy="7619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0543" y="3977540"/>
            <a:ext cx="68578" cy="68578"/>
          </a:xfrm>
          <a:prstGeom prst="roundRect">
            <a:avLst>
              <a:gd name="adj" fmla="val 50000"/>
            </a:avLst>
          </a:prstGeom>
          <a:solidFill>
            <a:srgbClr val="139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179" y="3809904"/>
            <a:ext cx="4983355" cy="457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3A3F57"/>
                </a:solidFill>
                <a:latin typeface="맑은 고딕"/>
                <a:ea typeface="맑은 고딕"/>
                <a:cs typeface="맑은 고딕"/>
              </a:rPr>
              <a:t>법률·운영 위험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0543" y="4297572"/>
            <a:ext cx="5150991" cy="7619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70543" y="4480447"/>
            <a:ext cx="68578" cy="68578"/>
          </a:xfrm>
          <a:prstGeom prst="roundRect">
            <a:avLst>
              <a:gd name="adj" fmla="val 50000"/>
            </a:avLst>
          </a:prstGeom>
          <a:solidFill>
            <a:srgbClr val="139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8179" y="4312812"/>
            <a:ext cx="4983355" cy="457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3A3F57"/>
                </a:solidFill>
                <a:latin typeface="맑은 고딕"/>
                <a:ea typeface="맑은 고딕"/>
                <a:cs typeface="맑은 고딕"/>
              </a:rPr>
              <a:t>여러 요청을 함께 해결할 공통 과제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0160" y="2941246"/>
            <a:ext cx="5150991" cy="2285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80" b="1">
                <a:solidFill>
                  <a:srgbClr val="334155"/>
                </a:solidFill>
                <a:latin typeface="맑은 고딕"/>
                <a:ea typeface="맑은 고딕"/>
                <a:cs typeface="맑은 고딕"/>
              </a:rPr>
              <a:t>실행 관리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70160" y="3200319"/>
            <a:ext cx="5150991" cy="19049"/>
          </a:xfrm>
          <a:prstGeom prst="rect">
            <a:avLst/>
          </a:prstGeom>
          <a:solidFill>
            <a:srgbClr val="E5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70160" y="3474633"/>
            <a:ext cx="68578" cy="68578"/>
          </a:xfrm>
          <a:prstGeom prst="roundRect">
            <a:avLst>
              <a:gd name="adj" fmla="val 50000"/>
            </a:avLst>
          </a:prstGeom>
          <a:solidFill>
            <a:srgbClr val="139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796" y="3306997"/>
            <a:ext cx="4983355" cy="457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3A3F57"/>
                </a:solidFill>
                <a:latin typeface="맑은 고딕"/>
                <a:ea typeface="맑은 고딕"/>
                <a:cs typeface="맑은 고딕"/>
              </a:rPr>
              <a:t>업무 배분과 백로그 정리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70160" y="3794665"/>
            <a:ext cx="5150991" cy="7619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70160" y="3977540"/>
            <a:ext cx="68578" cy="68578"/>
          </a:xfrm>
          <a:prstGeom prst="roundRect">
            <a:avLst>
              <a:gd name="adj" fmla="val 50000"/>
            </a:avLst>
          </a:prstGeom>
          <a:solidFill>
            <a:srgbClr val="139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796" y="3809904"/>
            <a:ext cx="4983355" cy="457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3A3F57"/>
                </a:solidFill>
                <a:latin typeface="맑은 고딕"/>
                <a:ea typeface="맑은 고딕"/>
                <a:cs typeface="맑은 고딕"/>
              </a:rPr>
              <a:t>PRD 목적·KPI ↔ 상세기획 연결 확인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70160" y="4297572"/>
            <a:ext cx="5150991" cy="7619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370160" y="4480447"/>
            <a:ext cx="68578" cy="68578"/>
          </a:xfrm>
          <a:prstGeom prst="roundRect">
            <a:avLst>
              <a:gd name="adj" fmla="val 50000"/>
            </a:avLst>
          </a:prstGeom>
          <a:solidFill>
            <a:srgbClr val="139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796" y="4312812"/>
            <a:ext cx="4983355" cy="457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3A3F57"/>
                </a:solidFill>
                <a:latin typeface="맑은 고딕"/>
                <a:ea typeface="맑은 고딕"/>
                <a:cs typeface="맑은 고딕"/>
              </a:rPr>
              <a:t>Figma 기반 산출물 공유·협업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70543" y="5547221"/>
            <a:ext cx="10850608" cy="670543"/>
          </a:xfrm>
          <a:prstGeom prst="roundRect">
            <a:avLst>
              <a:gd name="adj" fmla="val 6000"/>
            </a:avLst>
          </a:prstGeom>
          <a:solidFill>
            <a:srgbClr val="14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9137" y="5547221"/>
            <a:ext cx="990575" cy="6705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1">
                <a:solidFill>
                  <a:srgbClr val="5FD0EE"/>
                </a:solidFill>
                <a:latin typeface="맑은 고딕"/>
                <a:ea typeface="맑은 고딕"/>
                <a:cs typeface="맑은 고딕"/>
              </a:rPr>
              <a:t>DAI 적용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10" y="5547221"/>
            <a:ext cx="9326646" cy="6705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26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어려운 요구는 범위·일정·인력·협업 선택안을 비교하고, 경영진엔 </a:t>
            </a:r>
            <a:r>
              <a:rPr sz="1260" b="1">
                <a:solidFill>
                  <a:srgbClr val="5FD0EE"/>
                </a:solidFill>
                <a:latin typeface="맑은 고딕"/>
                <a:ea typeface="맑은 고딕"/>
                <a:cs typeface="맑은 고딕"/>
              </a:rPr>
              <a:t>추천안 1개</a:t>
            </a:r>
            <a:r>
              <a:rPr sz="126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를 제시하겠습니다.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92397" y="502907"/>
            <a:ext cx="1828754" cy="18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869" b="1">
                <a:solidFill>
                  <a:srgbClr val="9298B0"/>
                </a:solidFill>
                <a:latin typeface="맑은 고딕"/>
                <a:ea typeface="맑은 고딕"/>
                <a:cs typeface="맑은 고딕"/>
              </a:rPr>
              <a:t>DAI · 정치성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01982" y="6293962"/>
            <a:ext cx="1219169" cy="18287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spcBef>
                <a:spcPts val="0"/>
              </a:spcBef>
            </a:pPr>
            <a:r>
              <a:rPr sz="869" b="1">
                <a:solidFill>
                  <a:srgbClr val="6F7590"/>
                </a:solidFill>
                <a:latin typeface="맑은 고딕"/>
                <a:ea typeface="맑은 고딕"/>
                <a:cs typeface="맑은 고딕"/>
              </a:rPr>
              <a:t>07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43" y="472428"/>
            <a:ext cx="6857828" cy="1981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29" b="1">
                <a:solidFill>
                  <a:srgbClr val="5C6478"/>
                </a:solidFill>
                <a:latin typeface="맑은 고딕"/>
                <a:ea typeface="맑은 고딕"/>
                <a:cs typeface="맑은 고딕"/>
              </a:rPr>
              <a:t>AI 활용 · 적용 기준</a:t>
            </a:r>
          </a:p>
        </p:txBody>
      </p:sp>
      <p:sp>
        <p:nvSpPr>
          <p:cNvPr id="6" name="Rectangle 5"/>
          <p:cNvSpPr/>
          <p:nvPr/>
        </p:nvSpPr>
        <p:spPr>
          <a:xfrm>
            <a:off x="670543" y="701022"/>
            <a:ext cx="1516342" cy="18287"/>
          </a:xfrm>
          <a:prstGeom prst="rect">
            <a:avLst/>
          </a:prstGeom>
          <a:solidFill>
            <a:srgbClr val="CB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0543" y="792460"/>
            <a:ext cx="10972525" cy="5333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AI로 초안은 빠르게, 정식 적용은 </a:t>
            </a:r>
            <a:r>
              <a:rPr sz="3000" b="1">
                <a:solidFill>
                  <a:srgbClr val="0C6D8C"/>
                </a:solidFill>
                <a:latin typeface="맑은 고딕"/>
                <a:ea typeface="맑은 고딕"/>
                <a:cs typeface="맑은 고딕"/>
              </a:rPr>
              <a:t>4가지 기준으로 판단</a:t>
            </a:r>
          </a:p>
        </p:txBody>
      </p:sp>
      <p:sp>
        <p:nvSpPr>
          <p:cNvPr id="8" name="Rectangle 7"/>
          <p:cNvSpPr/>
          <p:nvPr/>
        </p:nvSpPr>
        <p:spPr>
          <a:xfrm>
            <a:off x="670543" y="1691597"/>
            <a:ext cx="5425304" cy="3276518"/>
          </a:xfrm>
          <a:prstGeom prst="rect">
            <a:avLst/>
          </a:prstGeom>
          <a:solidFill>
            <a:srgbClr val="FFFFFF"/>
          </a:solidFill>
          <a:ln w="1778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5847" y="1691597"/>
            <a:ext cx="5425304" cy="3276518"/>
          </a:xfrm>
          <a:prstGeom prst="rect">
            <a:avLst/>
          </a:prstGeom>
          <a:solidFill>
            <a:srgbClr val="F5F7FB"/>
          </a:solidFill>
          <a:ln w="1778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4856" y="1920191"/>
            <a:ext cx="4876678" cy="18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1">
                <a:solidFill>
                  <a:srgbClr val="6F7590"/>
                </a:solidFill>
                <a:latin typeface="맑은 고딕"/>
                <a:ea typeface="맑은 고딕"/>
                <a:cs typeface="맑은 고딕"/>
              </a:rPr>
              <a:t>지금까지 · 만든다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856" y="2103067"/>
            <a:ext cx="4876678" cy="304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60" b="1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AI로 초안을 빠르게 만든다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4856" y="2682172"/>
            <a:ext cx="68578" cy="68578"/>
          </a:xfrm>
          <a:prstGeom prst="rect">
            <a:avLst/>
          </a:prstGeom>
          <a:solidFill>
            <a:srgbClr val="17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7731" y="2590735"/>
            <a:ext cx="4693802" cy="457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3A3F57"/>
                </a:solidFill>
                <a:latin typeface="맑은 고딕"/>
                <a:ea typeface="맑은 고딕"/>
                <a:cs typeface="맑은 고딕"/>
              </a:rPr>
              <a:t>PRD · 기능정의 · 프로토타입 제작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4856" y="3124121"/>
            <a:ext cx="4876678" cy="7619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44856" y="3337476"/>
            <a:ext cx="68578" cy="68578"/>
          </a:xfrm>
          <a:prstGeom prst="rect">
            <a:avLst/>
          </a:prstGeom>
          <a:solidFill>
            <a:srgbClr val="17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27731" y="3246038"/>
            <a:ext cx="4693802" cy="457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3A3F57"/>
                </a:solidFill>
                <a:latin typeface="맑은 고딕"/>
                <a:ea typeface="맑은 고딕"/>
                <a:cs typeface="맑은 고딕"/>
              </a:rPr>
              <a:t>테스트 데이터를 연결한 작동 프로토타입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4856" y="3779425"/>
            <a:ext cx="4876678" cy="7619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4856" y="3992780"/>
            <a:ext cx="68578" cy="68578"/>
          </a:xfrm>
          <a:prstGeom prst="rect">
            <a:avLst/>
          </a:prstGeom>
          <a:solidFill>
            <a:srgbClr val="17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7731" y="3901342"/>
            <a:ext cx="4693802" cy="4571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3A3F57"/>
                </a:solidFill>
                <a:latin typeface="맑은 고딕"/>
                <a:ea typeface="맑은 고딕"/>
                <a:cs typeface="맑은 고딕"/>
              </a:rPr>
              <a:t>사내 운영 업무의 도구화 · 자동화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9633" y="3093642"/>
            <a:ext cx="472428" cy="472428"/>
          </a:xfrm>
          <a:prstGeom prst="roundRect">
            <a:avLst>
              <a:gd name="adj" fmla="val 50000"/>
            </a:avLst>
          </a:prstGeom>
          <a:solidFill>
            <a:srgbClr val="139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9633" y="3093642"/>
            <a:ext cx="472428" cy="4724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0" y="1920191"/>
            <a:ext cx="4876678" cy="18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1">
                <a:solidFill>
                  <a:srgbClr val="5C6478"/>
                </a:solidFill>
                <a:latin typeface="맑은 고딕"/>
                <a:ea typeface="맑은 고딕"/>
                <a:cs typeface="맑은 고딕"/>
              </a:rPr>
              <a:t>DAI · 판단한다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0160" y="2103067"/>
            <a:ext cx="4876678" cy="304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60" b="1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정식 적용은 4가지 기준으로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70160" y="2621214"/>
            <a:ext cx="579105" cy="259073"/>
          </a:xfrm>
          <a:prstGeom prst="roundRect">
            <a:avLst>
              <a:gd name="adj" fmla="val 20000"/>
            </a:avLst>
          </a:prstGeom>
          <a:solidFill>
            <a:srgbClr val="0C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0160" y="2621214"/>
            <a:ext cx="579105" cy="2590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99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효과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71183" y="2575495"/>
            <a:ext cx="4175655" cy="3505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140" b="0">
                <a:solidFill>
                  <a:srgbClr val="3A3F57"/>
                </a:solidFill>
                <a:latin typeface="맑은 고딕"/>
                <a:ea typeface="맑은 고딕"/>
                <a:cs typeface="맑은 고딕"/>
              </a:rPr>
              <a:t>어떤 사용자·운영 문제를 개선하는가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70160" y="3169840"/>
            <a:ext cx="990575" cy="259073"/>
          </a:xfrm>
          <a:prstGeom prst="roundRect">
            <a:avLst>
              <a:gd name="adj" fmla="val 20000"/>
            </a:avLst>
          </a:prstGeom>
          <a:solidFill>
            <a:srgbClr val="0C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70160" y="3169840"/>
            <a:ext cx="990575" cy="2590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99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오류·누락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2652" y="3124121"/>
            <a:ext cx="3764185" cy="3505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140" b="0">
                <a:solidFill>
                  <a:srgbClr val="3A3F57"/>
                </a:solidFill>
                <a:latin typeface="맑은 고딕"/>
                <a:ea typeface="맑은 고딕"/>
                <a:cs typeface="맑은 고딕"/>
              </a:rPr>
              <a:t>결과의 오류·누락을 어떻게 확인하는가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70160" y="3718467"/>
            <a:ext cx="990575" cy="259073"/>
          </a:xfrm>
          <a:prstGeom prst="roundRect">
            <a:avLst>
              <a:gd name="adj" fmla="val 20000"/>
            </a:avLst>
          </a:prstGeom>
          <a:solidFill>
            <a:srgbClr val="0C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70160" y="3718467"/>
            <a:ext cx="990575" cy="2590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99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사람 검토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2652" y="3672748"/>
            <a:ext cx="3764185" cy="3505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140" b="0">
                <a:solidFill>
                  <a:srgbClr val="3A3F57"/>
                </a:solidFill>
                <a:latin typeface="맑은 고딕"/>
                <a:ea typeface="맑은 고딕"/>
                <a:cs typeface="맑은 고딕"/>
              </a:rPr>
              <a:t>어떤 상황에서 사람이 검토하는가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70160" y="4267093"/>
            <a:ext cx="579105" cy="259073"/>
          </a:xfrm>
          <a:prstGeom prst="roundRect">
            <a:avLst>
              <a:gd name="adj" fmla="val 20000"/>
            </a:avLst>
          </a:prstGeom>
          <a:solidFill>
            <a:srgbClr val="0C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0160" y="4267093"/>
            <a:ext cx="579105" cy="2590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99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비용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71183" y="4221374"/>
            <a:ext cx="4175655" cy="3505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140" b="0">
                <a:solidFill>
                  <a:srgbClr val="3A3F57"/>
                </a:solidFill>
                <a:latin typeface="맑은 고딕"/>
                <a:ea typeface="맑은 고딕"/>
                <a:cs typeface="맑은 고딕"/>
              </a:rPr>
              <a:t>데이터·연동·보안·운영 비용을 감당할 수 있는가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0543" y="5181470"/>
            <a:ext cx="10850608" cy="6248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0320">
            <a:solidFill>
              <a:srgbClr val="1391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70543" y="5181470"/>
            <a:ext cx="45718" cy="624824"/>
          </a:xfrm>
          <a:prstGeom prst="rect">
            <a:avLst/>
          </a:prstGeom>
          <a:solidFill>
            <a:srgbClr val="139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9137" y="5181470"/>
            <a:ext cx="990575" cy="624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960" b="1">
                <a:solidFill>
                  <a:srgbClr val="0C6D8C"/>
                </a:solidFill>
                <a:latin typeface="맑은 고딕"/>
                <a:ea typeface="맑은 고딕"/>
                <a:cs typeface="맑은 고딕"/>
              </a:rPr>
              <a:t>적용 예시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42108" y="5181470"/>
            <a:ext cx="9250448" cy="624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60" b="0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정보 요약 기능이라면 </a:t>
            </a:r>
            <a:r>
              <a:rPr sz="1260" b="1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처리시간</a:t>
            </a:r>
            <a:r>
              <a:rPr sz="1260" b="0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과 </a:t>
            </a:r>
            <a:r>
              <a:rPr sz="1260" b="1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중요 정보 누락</a:t>
            </a:r>
            <a:r>
              <a:rPr sz="1260" b="0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을 함께 평가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92397" y="502907"/>
            <a:ext cx="1828754" cy="18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869" b="1">
                <a:solidFill>
                  <a:srgbClr val="9298B0"/>
                </a:solidFill>
                <a:latin typeface="맑은 고딕"/>
                <a:ea typeface="맑은 고딕"/>
                <a:cs typeface="맑은 고딕"/>
              </a:rPr>
              <a:t>DAI · 정치성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01982" y="6293962"/>
            <a:ext cx="1219169" cy="18287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spcBef>
                <a:spcPts val="0"/>
              </a:spcBef>
            </a:pPr>
            <a:r>
              <a:rPr sz="869" b="1">
                <a:solidFill>
                  <a:srgbClr val="6F7590"/>
                </a:solidFill>
                <a:latin typeface="맑은 고딕"/>
                <a:ea typeface="맑은 고딕"/>
                <a:cs typeface="맑은 고딕"/>
              </a:rPr>
              <a:t>08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43" y="472428"/>
            <a:ext cx="6857828" cy="1981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29" b="1">
                <a:solidFill>
                  <a:srgbClr val="5C6478"/>
                </a:solidFill>
                <a:latin typeface="맑은 고딕"/>
                <a:ea typeface="맑은 고딕"/>
                <a:cs typeface="맑은 고딕"/>
              </a:rPr>
              <a:t>DAI 기여 · 판단 방식</a:t>
            </a:r>
          </a:p>
        </p:txBody>
      </p:sp>
      <p:sp>
        <p:nvSpPr>
          <p:cNvPr id="6" name="Rectangle 5"/>
          <p:cNvSpPr/>
          <p:nvPr/>
        </p:nvSpPr>
        <p:spPr>
          <a:xfrm>
            <a:off x="670543" y="701022"/>
            <a:ext cx="1615399" cy="18287"/>
          </a:xfrm>
          <a:prstGeom prst="rect">
            <a:avLst/>
          </a:prstGeom>
          <a:solidFill>
            <a:srgbClr val="CB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0543" y="792460"/>
            <a:ext cx="10972525" cy="5333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단계마다 검증하고 되돌리며 </a:t>
            </a:r>
            <a:r>
              <a:rPr sz="3000" b="1">
                <a:solidFill>
                  <a:srgbClr val="0C6D8C"/>
                </a:solidFill>
                <a:latin typeface="맑은 고딕"/>
                <a:ea typeface="맑은 고딕"/>
                <a:cs typeface="맑은 고딕"/>
              </a:rPr>
              <a:t>리스크를 통제</a:t>
            </a:r>
            <a:r>
              <a:rPr sz="3000" b="1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합니다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883897" y="2095447"/>
            <a:ext cx="10423899" cy="22859"/>
          </a:xfrm>
          <a:prstGeom prst="rect">
            <a:avLst/>
          </a:prstGeom>
          <a:solidFill>
            <a:srgbClr val="CB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70543" y="1889712"/>
            <a:ext cx="426709" cy="426709"/>
          </a:xfrm>
          <a:prstGeom prst="roundRect">
            <a:avLst>
              <a:gd name="adj" fmla="val 50000"/>
            </a:avLst>
          </a:prstGeom>
          <a:solidFill>
            <a:srgbClr val="1391B8"/>
          </a:solidFill>
          <a:ln w="50800">
            <a:solidFill>
              <a:srgbClr val="FBF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0543" y="1889712"/>
            <a:ext cx="426709" cy="4267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38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43" y="2499297"/>
            <a:ext cx="2541206" cy="502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500" b="1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사업 · 현장 이해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543" y="3078403"/>
            <a:ext cx="2541206" cy="1142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080" b="0">
                <a:solidFill>
                  <a:srgbClr val="3A3F57"/>
                </a:solidFill>
                <a:latin typeface="맑은 고딕"/>
                <a:ea typeface="맑은 고딕"/>
                <a:cs typeface="맑은 고딕"/>
              </a:rPr>
              <a:t>실제 사용자·도입 결정자·비용 주체와 기존 데이터·계약 조건은?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0543" y="4404249"/>
            <a:ext cx="2541206" cy="731501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0543" y="4404249"/>
            <a:ext cx="30479" cy="731501"/>
          </a:xfrm>
          <a:prstGeom prst="rect">
            <a:avLst/>
          </a:prstGeom>
          <a:solidFill>
            <a:srgbClr val="CB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39" y="4526166"/>
            <a:ext cx="2297372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750" b="1">
                <a:solidFill>
                  <a:srgbClr val="6F7590"/>
                </a:solidFill>
                <a:latin typeface="맑은 고딕"/>
                <a:ea typeface="맑은 고딕"/>
                <a:cs typeface="맑은 고딕"/>
              </a:rPr>
              <a:t>판단 결과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39" y="4678563"/>
            <a:ext cx="2297372" cy="411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80" b="1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해결할 문제와 기대 성과 합의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40343" y="1889712"/>
            <a:ext cx="426709" cy="426709"/>
          </a:xfrm>
          <a:prstGeom prst="roundRect">
            <a:avLst>
              <a:gd name="adj" fmla="val 50000"/>
            </a:avLst>
          </a:prstGeom>
          <a:solidFill>
            <a:srgbClr val="1391B8"/>
          </a:solidFill>
          <a:ln w="50800">
            <a:solidFill>
              <a:srgbClr val="FBF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40343" y="1889712"/>
            <a:ext cx="426709" cy="4267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38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0343" y="2499297"/>
            <a:ext cx="2541206" cy="502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500" b="1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우선 과제 선정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0343" y="3078403"/>
            <a:ext cx="2541206" cy="1142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080" b="0">
                <a:solidFill>
                  <a:srgbClr val="3A3F57"/>
                </a:solidFill>
                <a:latin typeface="맑은 고딕"/>
                <a:ea typeface="맑은 고딕"/>
                <a:cs typeface="맑은 고딕"/>
              </a:rPr>
              <a:t>고객 영향·사업 효과와 데이터·개발·운영 가능성은?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40343" y="4404249"/>
            <a:ext cx="2541206" cy="731501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40343" y="4404249"/>
            <a:ext cx="30479" cy="731501"/>
          </a:xfrm>
          <a:prstGeom prst="rect">
            <a:avLst/>
          </a:prstGeom>
          <a:solidFill>
            <a:srgbClr val="CB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92740" y="4526166"/>
            <a:ext cx="2297372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750" b="1">
                <a:solidFill>
                  <a:srgbClr val="6F7590"/>
                </a:solidFill>
                <a:latin typeface="맑은 고딕"/>
                <a:ea typeface="맑은 고딕"/>
                <a:cs typeface="맑은 고딕"/>
              </a:rPr>
              <a:t>판단 결과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92740" y="4678563"/>
            <a:ext cx="2297372" cy="411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80" b="1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우선순위와 개발 범위 제안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0144" y="1889712"/>
            <a:ext cx="426709" cy="426709"/>
          </a:xfrm>
          <a:prstGeom prst="roundRect">
            <a:avLst>
              <a:gd name="adj" fmla="val 50000"/>
            </a:avLst>
          </a:prstGeom>
          <a:solidFill>
            <a:srgbClr val="1391B8"/>
          </a:solidFill>
          <a:ln w="50800">
            <a:solidFill>
              <a:srgbClr val="FBF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0144" y="1889712"/>
            <a:ext cx="426709" cy="4267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38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0144" y="2499297"/>
            <a:ext cx="2541206" cy="502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500" b="1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불확실성 검증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0144" y="3078403"/>
            <a:ext cx="2541206" cy="1142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080" b="0">
                <a:solidFill>
                  <a:srgbClr val="3A3F57"/>
                </a:solidFill>
                <a:latin typeface="맑은 고딕"/>
                <a:ea typeface="맑은 고딕"/>
                <a:cs typeface="맑은 고딕"/>
              </a:rPr>
              <a:t>수요·연동·AI 품질·운영 중 핵심 불확실성은 무엇인가?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0144" y="4404249"/>
            <a:ext cx="2541206" cy="731501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0144" y="4404249"/>
            <a:ext cx="30479" cy="731501"/>
          </a:xfrm>
          <a:prstGeom prst="rect">
            <a:avLst/>
          </a:prstGeom>
          <a:solidFill>
            <a:srgbClr val="CB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62540" y="4526166"/>
            <a:ext cx="2297372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750" b="1">
                <a:solidFill>
                  <a:srgbClr val="6F7590"/>
                </a:solidFill>
                <a:latin typeface="맑은 고딕"/>
                <a:ea typeface="맑은 고딕"/>
                <a:cs typeface="맑은 고딕"/>
              </a:rPr>
              <a:t>판단 결과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62540" y="4678563"/>
            <a:ext cx="2297372" cy="411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80" b="1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진행 · 범위 수정 · 보류 판단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79945" y="1889712"/>
            <a:ext cx="426709" cy="426709"/>
          </a:xfrm>
          <a:prstGeom prst="roundRect">
            <a:avLst>
              <a:gd name="adj" fmla="val 50000"/>
            </a:avLst>
          </a:prstGeom>
          <a:solidFill>
            <a:srgbClr val="1391B8"/>
          </a:solidFill>
          <a:ln w="50800">
            <a:solidFill>
              <a:srgbClr val="FBFA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79945" y="1889712"/>
            <a:ext cx="426709" cy="4267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38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79945" y="2499297"/>
            <a:ext cx="2541206" cy="502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500" b="1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구축 · 개선 · 확장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79945" y="3078403"/>
            <a:ext cx="2541206" cy="1142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080" b="0">
                <a:solidFill>
                  <a:srgbClr val="3A3F57"/>
                </a:solidFill>
                <a:latin typeface="맑은 고딕"/>
                <a:ea typeface="맑은 고딕"/>
                <a:cs typeface="맑은 고딕"/>
              </a:rPr>
              <a:t>실제 이용·운영 결과와 공통 활용 가능한 기준은?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79945" y="4404249"/>
            <a:ext cx="2541206" cy="731501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979945" y="4404249"/>
            <a:ext cx="30479" cy="731501"/>
          </a:xfrm>
          <a:prstGeom prst="rect">
            <a:avLst/>
          </a:prstGeom>
          <a:solidFill>
            <a:srgbClr val="CB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32341" y="4526166"/>
            <a:ext cx="2297372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750" b="1">
                <a:solidFill>
                  <a:srgbClr val="6F7590"/>
                </a:solidFill>
                <a:latin typeface="맑은 고딕"/>
                <a:ea typeface="맑은 고딕"/>
                <a:cs typeface="맑은 고딕"/>
              </a:rPr>
              <a:t>판단 결과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32341" y="4678563"/>
            <a:ext cx="2297372" cy="411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80" b="1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보완 · 확대 여부 결정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70543" y="5547221"/>
            <a:ext cx="10850608" cy="670543"/>
          </a:xfrm>
          <a:prstGeom prst="roundRect">
            <a:avLst>
              <a:gd name="adj" fmla="val 6000"/>
            </a:avLst>
          </a:prstGeom>
          <a:solidFill>
            <a:srgbClr val="14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9137" y="5547221"/>
            <a:ext cx="10393420" cy="6705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2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경영진에게는 </a:t>
            </a:r>
            <a:r>
              <a:rPr sz="1320" b="1">
                <a:solidFill>
                  <a:srgbClr val="5FD0EE"/>
                </a:solidFill>
                <a:latin typeface="맑은 고딕"/>
                <a:ea typeface="맑은 고딕"/>
                <a:cs typeface="맑은 고딕"/>
              </a:rPr>
              <a:t>선택의 근거와 추천안</a:t>
            </a:r>
            <a:r>
              <a:rPr sz="132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을, 실행 조직에는 </a:t>
            </a:r>
            <a:r>
              <a:rPr sz="1320" b="1">
                <a:solidFill>
                  <a:srgbClr val="5FD0EE"/>
                </a:solidFill>
                <a:latin typeface="맑은 고딕"/>
                <a:ea typeface="맑은 고딕"/>
                <a:cs typeface="맑은 고딕"/>
              </a:rPr>
              <a:t>명확한 범위와 판단 기준</a:t>
            </a:r>
            <a:r>
              <a:rPr sz="132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을 제시하겠습니다.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92397" y="502907"/>
            <a:ext cx="1828754" cy="18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869" b="1">
                <a:solidFill>
                  <a:srgbClr val="9298B0"/>
                </a:solidFill>
                <a:latin typeface="맑은 고딕"/>
                <a:ea typeface="맑은 고딕"/>
                <a:cs typeface="맑은 고딕"/>
              </a:rPr>
              <a:t>DAI · 정치성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01982" y="6293962"/>
            <a:ext cx="1219169" cy="18287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spcBef>
                <a:spcPts val="0"/>
              </a:spcBef>
            </a:pPr>
            <a:r>
              <a:rPr sz="869" b="1">
                <a:solidFill>
                  <a:srgbClr val="6F7590"/>
                </a:solidFill>
                <a:latin typeface="맑은 고딕"/>
                <a:ea typeface="맑은 고딕"/>
                <a:cs typeface="맑은 고딕"/>
              </a:rPr>
              <a:t>09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43" y="472428"/>
            <a:ext cx="6857828" cy="1981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29" b="1">
                <a:solidFill>
                  <a:srgbClr val="5C6478"/>
                </a:solidFill>
                <a:latin typeface="맑은 고딕"/>
                <a:ea typeface="맑은 고딕"/>
                <a:cs typeface="맑은 고딕"/>
              </a:rPr>
              <a:t>DAI 기여 · 첫 검증 가설</a:t>
            </a:r>
          </a:p>
        </p:txBody>
      </p:sp>
      <p:sp>
        <p:nvSpPr>
          <p:cNvPr id="6" name="Rectangle 5"/>
          <p:cNvSpPr/>
          <p:nvPr/>
        </p:nvSpPr>
        <p:spPr>
          <a:xfrm>
            <a:off x="670543" y="701022"/>
            <a:ext cx="1813514" cy="18287"/>
          </a:xfrm>
          <a:prstGeom prst="rect">
            <a:avLst/>
          </a:prstGeom>
          <a:solidFill>
            <a:srgbClr val="CB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0543" y="792460"/>
            <a:ext cx="10972525" cy="5333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소규모로 먼저 검증하고, 조건을 넘을 때만 </a:t>
            </a:r>
            <a:r>
              <a:rPr sz="3000" b="1">
                <a:solidFill>
                  <a:srgbClr val="0C6D8C"/>
                </a:solidFill>
                <a:latin typeface="맑은 고딕"/>
                <a:ea typeface="맑은 고딕"/>
                <a:cs typeface="맑은 고딕"/>
              </a:rPr>
              <a:t>확대</a:t>
            </a:r>
            <a:r>
              <a:rPr sz="3000" b="1">
                <a:solidFill>
                  <a:srgbClr val="171A2E"/>
                </a:solidFill>
                <a:latin typeface="맑은 고딕"/>
                <a:ea typeface="맑은 고딕"/>
                <a:cs typeface="맑은 고딕"/>
              </a:rPr>
              <a:t>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0543" y="1767795"/>
            <a:ext cx="5295767" cy="438901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778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0543" y="1767795"/>
            <a:ext cx="5295767" cy="731501"/>
          </a:xfrm>
          <a:prstGeom prst="rect">
            <a:avLst/>
          </a:prstGeom>
          <a:solidFill>
            <a:srgbClr val="14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3897" y="1904952"/>
            <a:ext cx="4869058" cy="1676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1">
                <a:solidFill>
                  <a:srgbClr val="5FD0EE"/>
                </a:solidFill>
                <a:latin typeface="맑은 고딕"/>
                <a:ea typeface="맑은 고딕"/>
                <a:cs typeface="맑은 고딕"/>
              </a:rPr>
              <a:t>가설 A · 환자 경험 연결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3897" y="2087827"/>
            <a:ext cx="4869058" cy="335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흩어진 접점을 하나로 잇는다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897" y="2621214"/>
            <a:ext cx="533386" cy="5791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929" b="1">
                <a:solidFill>
                  <a:srgbClr val="334155"/>
                </a:solidFill>
                <a:latin typeface="맑은 고딕"/>
                <a:ea typeface="맑은 고딕"/>
                <a:cs typeface="맑은 고딕"/>
              </a:rPr>
              <a:t>가설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3482" y="2621214"/>
            <a:ext cx="4259473" cy="5791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200" b="0">
                <a:solidFill>
                  <a:srgbClr val="3A3F57"/>
                </a:solidFill>
                <a:latin typeface="맑은 고딕"/>
                <a:ea typeface="맑은 고딕"/>
                <a:cs typeface="맑은 고딕"/>
              </a:rPr>
              <a:t>접점이 한 여정으로 이어지면 측정이 지속되고 다음 행동으로 이어집니다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3897" y="3200319"/>
            <a:ext cx="4869058" cy="7619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3897" y="3200319"/>
            <a:ext cx="533386" cy="5791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929" b="1">
                <a:solidFill>
                  <a:srgbClr val="334155"/>
                </a:solidFill>
                <a:latin typeface="맑은 고딕"/>
                <a:ea typeface="맑은 고딕"/>
                <a:cs typeface="맑은 고딕"/>
              </a:rPr>
              <a:t>근거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3482" y="3200319"/>
            <a:ext cx="4259473" cy="5791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200" b="0">
                <a:solidFill>
                  <a:srgbClr val="3A3F57"/>
                </a:solidFill>
                <a:latin typeface="맑은 고딕"/>
                <a:ea typeface="맑은 고딕"/>
                <a:cs typeface="맑은 고딕"/>
              </a:rPr>
              <a:t>그룹이 유통·판매하는 진단·모니터링·관리 접점(닥터눈·하이카디·케어센스에어)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3897" y="3779425"/>
            <a:ext cx="4869058" cy="7619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3897" y="3779425"/>
            <a:ext cx="533386" cy="5791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929" b="1">
                <a:solidFill>
                  <a:srgbClr val="334155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3482" y="3779425"/>
            <a:ext cx="4259473" cy="5791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200" b="0">
                <a:solidFill>
                  <a:srgbClr val="3A3F57"/>
                </a:solidFill>
                <a:latin typeface="맑은 고딕"/>
                <a:ea typeface="맑은 고딕"/>
                <a:cs typeface="맑은 고딕"/>
              </a:rPr>
              <a:t>동의·규제 확보를 전제로, 만성질환자 일부에게 두 접점을 먼저 연결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3897" y="4358531"/>
            <a:ext cx="4869058" cy="7619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3897" y="4358531"/>
            <a:ext cx="533386" cy="5791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929" b="1">
                <a:solidFill>
                  <a:srgbClr val="334155"/>
                </a:solidFill>
                <a:latin typeface="맑은 고딕"/>
                <a:ea typeface="맑은 고딕"/>
                <a:cs typeface="맑은 고딕"/>
              </a:rPr>
              <a:t>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3482" y="4358531"/>
            <a:ext cx="4259473" cy="5791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200" b="0">
                <a:solidFill>
                  <a:srgbClr val="3A3F57"/>
                </a:solidFill>
                <a:latin typeface="맑은 고딕"/>
                <a:ea typeface="맑은 고딕"/>
                <a:cs typeface="맑은 고딕"/>
              </a:rPr>
              <a:t>측정 지속률 · 다음 행동 연결률 · 안전 인시던트(발생 여부·건수)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0543" y="5486262"/>
            <a:ext cx="5295767" cy="670543"/>
          </a:xfrm>
          <a:prstGeom prst="rect">
            <a:avLst/>
          </a:prstGeom>
          <a:solidFill>
            <a:srgbClr val="1D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0543" y="5486262"/>
            <a:ext cx="5295767" cy="22859"/>
          </a:xfrm>
          <a:prstGeom prst="rect">
            <a:avLst/>
          </a:prstGeom>
          <a:solidFill>
            <a:srgbClr val="139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3897" y="5486262"/>
            <a:ext cx="533386" cy="6705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1">
                <a:solidFill>
                  <a:srgbClr val="5FD0EE"/>
                </a:solidFill>
                <a:latin typeface="맑은 고딕"/>
                <a:ea typeface="맑은 고딕"/>
                <a:cs typeface="맑은 고딕"/>
              </a:rPr>
              <a:t>판단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93482" y="5486262"/>
            <a:ext cx="4259473" cy="6705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4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지표 개선 + 동의·규제 통과 → </a:t>
            </a:r>
            <a:r>
              <a:rPr sz="1140" b="1">
                <a:solidFill>
                  <a:srgbClr val="5FD0EE"/>
                </a:solidFill>
                <a:latin typeface="맑은 고딕"/>
                <a:ea typeface="맑은 고딕"/>
                <a:cs typeface="맑은 고딕"/>
              </a:rPr>
              <a:t>확대</a:t>
            </a:r>
            <a:r>
              <a:rPr sz="114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/ 미달 → 보류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25384" y="1767795"/>
            <a:ext cx="5295767" cy="438901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778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25384" y="1767795"/>
            <a:ext cx="5295767" cy="731501"/>
          </a:xfrm>
          <a:prstGeom prst="rect">
            <a:avLst/>
          </a:prstGeom>
          <a:solidFill>
            <a:srgbClr val="14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38739" y="1904952"/>
            <a:ext cx="4869058" cy="1676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1">
                <a:solidFill>
                  <a:srgbClr val="5FD0EE"/>
                </a:solidFill>
                <a:latin typeface="맑은 고딕"/>
                <a:ea typeface="맑은 고딕"/>
                <a:cs typeface="맑은 고딕"/>
              </a:rPr>
              <a:t>가설 B · 데이터 재사용(RWD)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38739" y="2087827"/>
            <a:ext cx="4869058" cy="335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데이터를 모아 다시 쓴다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8739" y="2621214"/>
            <a:ext cx="533386" cy="5791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929" b="1">
                <a:solidFill>
                  <a:srgbClr val="334155"/>
                </a:solidFill>
                <a:latin typeface="맑은 고딕"/>
                <a:ea typeface="맑은 고딕"/>
                <a:cs typeface="맑은 고딕"/>
              </a:rPr>
              <a:t>가설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8323" y="2621214"/>
            <a:ext cx="4259473" cy="5791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200" b="0">
                <a:solidFill>
                  <a:srgbClr val="3A3F57"/>
                </a:solidFill>
                <a:latin typeface="맑은 고딕"/>
                <a:ea typeface="맑은 고딕"/>
                <a:cs typeface="맑은 고딕"/>
              </a:rPr>
              <a:t>접점 데이터를 표준으로 모으면 개선·근거에 다시 쓸 수 있습니다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38739" y="3200319"/>
            <a:ext cx="4869058" cy="7619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38739" y="3200319"/>
            <a:ext cx="533386" cy="5791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929" b="1">
                <a:solidFill>
                  <a:srgbClr val="334155"/>
                </a:solidFill>
                <a:latin typeface="맑은 고딕"/>
                <a:ea typeface="맑은 고딕"/>
                <a:cs typeface="맑은 고딕"/>
              </a:rPr>
              <a:t>가정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8323" y="3200319"/>
            <a:ext cx="4259473" cy="5791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200" b="0">
                <a:solidFill>
                  <a:srgbClr val="3A3F57"/>
                </a:solidFill>
                <a:latin typeface="맑은 고딕"/>
                <a:ea typeface="맑은 고딕"/>
                <a:cs typeface="맑은 고딕"/>
              </a:rPr>
              <a:t>접점이 따로 돌면 데이터도 흩어진다(근거는 입사 후 확인)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38739" y="3779425"/>
            <a:ext cx="4869058" cy="7619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38739" y="3779425"/>
            <a:ext cx="533386" cy="5791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929" b="1">
                <a:solidFill>
                  <a:srgbClr val="334155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8323" y="3779425"/>
            <a:ext cx="4259473" cy="5791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200" b="0">
                <a:solidFill>
                  <a:srgbClr val="3A3F57"/>
                </a:solidFill>
                <a:latin typeface="맑은 고딕"/>
                <a:ea typeface="맑은 고딕"/>
                <a:cs typeface="맑은 고딕"/>
              </a:rPr>
              <a:t>한 여정에서 공통 데이터 기준을 정해 소규모 시험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38739" y="4358531"/>
            <a:ext cx="4869058" cy="7619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38739" y="4358531"/>
            <a:ext cx="533386" cy="5791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929" b="1">
                <a:solidFill>
                  <a:srgbClr val="334155"/>
                </a:solidFill>
                <a:latin typeface="맑은 고딕"/>
                <a:ea typeface="맑은 고딕"/>
                <a:cs typeface="맑은 고딕"/>
              </a:rPr>
              <a:t>KPI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8323" y="4358531"/>
            <a:ext cx="4259473" cy="5791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200" b="0">
                <a:solidFill>
                  <a:srgbClr val="3A3F57"/>
                </a:solidFill>
                <a:latin typeface="맑은 고딕"/>
                <a:ea typeface="맑은 고딕"/>
                <a:cs typeface="맑은 고딕"/>
              </a:rPr>
              <a:t>데이터 완결성(표준 충족률) · 재사용 건수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25384" y="5486262"/>
            <a:ext cx="5295767" cy="670543"/>
          </a:xfrm>
          <a:prstGeom prst="rect">
            <a:avLst/>
          </a:prstGeom>
          <a:solidFill>
            <a:srgbClr val="1D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25384" y="5486262"/>
            <a:ext cx="5295767" cy="22859"/>
          </a:xfrm>
          <a:prstGeom prst="rect">
            <a:avLst/>
          </a:prstGeom>
          <a:solidFill>
            <a:srgbClr val="139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38739" y="5486262"/>
            <a:ext cx="533386" cy="6705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1">
                <a:solidFill>
                  <a:srgbClr val="5FD0EE"/>
                </a:solidFill>
                <a:latin typeface="맑은 고딕"/>
                <a:ea typeface="맑은 고딕"/>
                <a:cs typeface="맑은 고딕"/>
              </a:rPr>
              <a:t>판단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8323" y="5486262"/>
            <a:ext cx="4259473" cy="6705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4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완결성·재사용 확인 + 동의·보안·규제 통과 → </a:t>
            </a:r>
            <a:r>
              <a:rPr sz="1140" b="1">
                <a:solidFill>
                  <a:srgbClr val="5FD0EE"/>
                </a:solidFill>
                <a:latin typeface="맑은 고딕"/>
                <a:ea typeface="맑은 고딕"/>
                <a:cs typeface="맑은 고딕"/>
              </a:rPr>
              <a:t>확대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14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01022" y="655303"/>
            <a:ext cx="91437" cy="91437"/>
          </a:xfrm>
          <a:prstGeom prst="roundRect">
            <a:avLst>
              <a:gd name="adj" fmla="val 50000"/>
            </a:avLst>
          </a:prstGeom>
          <a:solidFill>
            <a:srgbClr val="5FD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3418" y="609584"/>
            <a:ext cx="6857828" cy="18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60" b="0">
                <a:solidFill>
                  <a:srgbClr val="B3BCDA"/>
                </a:solidFill>
                <a:latin typeface="맑은 고딕"/>
                <a:ea typeface="맑은 고딕"/>
                <a:cs typeface="맑은 고딕"/>
              </a:rPr>
              <a:t>동아쏘시오그룹 · DAI    |    AI 헬스케어 플랫폼 팀장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1022" y="1904952"/>
            <a:ext cx="3047923" cy="1981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29" b="1">
                <a:solidFill>
                  <a:srgbClr val="98A2C4"/>
                </a:solidFill>
                <a:latin typeface="맑은 고딕"/>
                <a:ea typeface="맑은 고딕"/>
                <a:cs typeface="맑은 고딕"/>
              </a:rPr>
              <a:t>맺음말</a:t>
            </a:r>
          </a:p>
        </p:txBody>
      </p:sp>
      <p:sp>
        <p:nvSpPr>
          <p:cNvPr id="6" name="Rectangle 5"/>
          <p:cNvSpPr/>
          <p:nvPr/>
        </p:nvSpPr>
        <p:spPr>
          <a:xfrm>
            <a:off x="701022" y="2164025"/>
            <a:ext cx="640063" cy="16763"/>
          </a:xfrm>
          <a:prstGeom prst="rect">
            <a:avLst/>
          </a:prstGeom>
          <a:solidFill>
            <a:srgbClr val="3A4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1022" y="2514537"/>
            <a:ext cx="10362940" cy="12191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33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DAI의 사업 과제를</a:t>
            </a:r>
          </a:p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3360" b="1">
                <a:solidFill>
                  <a:srgbClr val="5FD0EE"/>
                </a:solidFill>
                <a:latin typeface="맑은 고딕"/>
                <a:ea typeface="맑은 고딕"/>
                <a:cs typeface="맑은 고딕"/>
              </a:rPr>
              <a:t>제품과 운영</a:t>
            </a:r>
            <a:r>
              <a:rPr sz="33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으로 구체화하겠습니다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022" y="4267093"/>
            <a:ext cx="2407859" cy="18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80" b="1">
                <a:solidFill>
                  <a:srgbClr val="4E6187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022" y="4480447"/>
            <a:ext cx="2407859" cy="304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60" b="1">
                <a:solidFill>
                  <a:srgbClr val="E6EBF6"/>
                </a:solidFill>
                <a:latin typeface="맑은 고딕"/>
                <a:ea typeface="맑은 고딕"/>
                <a:cs typeface="맑은 고딕"/>
              </a:rPr>
              <a:t>전환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06054" y="4297572"/>
            <a:ext cx="7619" cy="457188"/>
          </a:xfrm>
          <a:prstGeom prst="rect">
            <a:avLst/>
          </a:prstGeom>
          <a:solidFill>
            <a:srgbClr val="3A4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42268" y="4267093"/>
            <a:ext cx="2407859" cy="18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80" b="1">
                <a:solidFill>
                  <a:srgbClr val="4E6187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2268" y="4480447"/>
            <a:ext cx="2407859" cy="304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60" b="1">
                <a:solidFill>
                  <a:srgbClr val="E6EBF6"/>
                </a:solidFill>
                <a:latin typeface="맑은 고딕"/>
                <a:ea typeface="맑은 고딕"/>
                <a:cs typeface="맑은 고딕"/>
              </a:rPr>
              <a:t>구조화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18707" y="4297572"/>
            <a:ext cx="7619" cy="457188"/>
          </a:xfrm>
          <a:prstGeom prst="rect">
            <a:avLst/>
          </a:prstGeom>
          <a:solidFill>
            <a:srgbClr val="3A4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4921" y="4267093"/>
            <a:ext cx="2407859" cy="18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80" b="1">
                <a:solidFill>
                  <a:srgbClr val="4E6187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4921" y="4480447"/>
            <a:ext cx="2407859" cy="304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60" b="1">
                <a:solidFill>
                  <a:srgbClr val="E6EBF6"/>
                </a:solidFill>
                <a:latin typeface="맑은 고딕"/>
                <a:ea typeface="맑은 고딕"/>
                <a:cs typeface="맑은 고딕"/>
              </a:rPr>
              <a:t>연동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31359" y="4297572"/>
            <a:ext cx="7619" cy="457188"/>
          </a:xfrm>
          <a:prstGeom prst="rect">
            <a:avLst/>
          </a:prstGeom>
          <a:solidFill>
            <a:srgbClr val="3A4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7573" y="4267093"/>
            <a:ext cx="2407859" cy="18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80" b="1">
                <a:solidFill>
                  <a:srgbClr val="4E6187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67573" y="4480447"/>
            <a:ext cx="2407859" cy="304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60" b="1">
                <a:solidFill>
                  <a:srgbClr val="E6EBF6"/>
                </a:solidFill>
                <a:latin typeface="맑은 고딕"/>
                <a:ea typeface="맑은 고딕"/>
                <a:cs typeface="맑은 고딕"/>
              </a:rPr>
              <a:t>실행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2" y="5227189"/>
            <a:ext cx="10362940" cy="4571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560" b="0">
                <a:solidFill>
                  <a:srgbClr val="CCD3E7"/>
                </a:solidFill>
                <a:latin typeface="맑은 고딕"/>
                <a:ea typeface="맑은 고딕"/>
                <a:cs typeface="맑은 고딕"/>
              </a:rPr>
              <a:t>필요한 전문성과 협업하며, 판단의 근거와 실행 결과를 </a:t>
            </a:r>
            <a:r>
              <a:rPr sz="156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끝까지 설명</a:t>
            </a:r>
            <a:r>
              <a:rPr sz="1560" b="0">
                <a:solidFill>
                  <a:srgbClr val="CCD3E7"/>
                </a:solidFill>
                <a:latin typeface="맑은 고딕"/>
                <a:ea typeface="맑은 고딕"/>
                <a:cs typeface="맑은 고딕"/>
              </a:rPr>
              <a:t>하는 팀장이 되겠습니다.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022" y="6385400"/>
            <a:ext cx="6857828" cy="18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828CAE"/>
                </a:solidFill>
                <a:latin typeface="맑은 고딕"/>
                <a:ea typeface="맑은 고딕"/>
                <a:cs typeface="맑은 고딕"/>
              </a:rPr>
              <a:t>감사합니다. 질문 부탁드립니다.  ·  정치성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710" y="6385400"/>
            <a:ext cx="1523961" cy="18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1">
                <a:solidFill>
                  <a:srgbClr val="828CAE"/>
                </a:solidFill>
                <a:latin typeface="맑은 고딕"/>
                <a:ea typeface="맑은 고딕"/>
                <a:cs typeface="맑은 고딕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