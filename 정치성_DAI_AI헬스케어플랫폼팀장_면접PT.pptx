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EB8D6"/>
                </a:solidFill>
                <a:latin typeface="맑은 고딕"/>
                <a:ea typeface="맑은 고딕"/>
              </a:rPr>
              <a:t>●  동아쏘시오그룹 · DAI   |   AI 헬스케어 플랫폼 팀장 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20">
                <a:solidFill>
                  <a:srgbClr val="5FD0EE"/>
                </a:solidFill>
                <a:latin typeface="맑은 고딕"/>
                <a:ea typeface="맑은 고딕"/>
              </a:rPr>
              <a:t>INTERVIEW PRESENTATION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2295144"/>
            <a:ext cx="1737360" cy="0"/>
          </a:xfrm>
          <a:prstGeom prst="bentConnector3">
            <a:avLst/>
          </a:prstGeom>
          <a:ln w="25400">
            <a:solidFill>
              <a:srgbClr val="2F7F9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2395728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</a:rPr>
              <a:t>대표 프로젝트 성과와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5FD0EE"/>
                </a:solidFill>
                <a:latin typeface="맑은 고딕"/>
                <a:ea typeface="맑은 고딕"/>
              </a:rPr>
              <a:t>DAI 플랫폼 구축 기여 방안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605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7CEE4"/>
                </a:solidFill>
                <a:latin typeface="맑은 고딕"/>
                <a:ea typeface="맑은 고딕"/>
              </a:rPr>
              <a:t>AI 헬스케어 플랫폼 팀장 지원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4800600"/>
            <a:ext cx="10789920" cy="0"/>
          </a:xfrm>
          <a:prstGeom prst="bentConnector3">
            <a:avLst/>
          </a:prstGeom>
          <a:ln w="12700">
            <a:solidFill>
              <a:srgbClr val="333B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4956048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</a:rPr>
              <a:t>정치성   </a:t>
            </a:r>
            <a:r>
              <a:rPr sz="1900" b="0">
                <a:solidFill>
                  <a:srgbClr val="9AA4C6"/>
                </a:solidFill>
                <a:latin typeface="맑은 고딕"/>
                <a:ea typeface="맑은 고딕"/>
              </a:rPr>
              <a:t>· 2026.09.16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40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4B8"/>
                </a:solidFill>
                <a:latin typeface="맑은 고딕"/>
                <a:ea typeface="맑은 고딕"/>
              </a:rPr>
              <a:t>사용자와 현장의 문제를 제품과 운영의 개선으로 연결해 온 경험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82512"/>
            <a:ext cx="8778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F89AB"/>
                </a:solidFill>
                <a:latin typeface="맑은 고딕"/>
                <a:ea typeface="맑은 고딕"/>
              </a:rPr>
              <a:t>2026 · 임원 면접 발표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8251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7F89AB"/>
                </a:solidFill>
                <a:latin typeface="맑은 고딕"/>
                <a:ea typeface="맑은 고딕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4572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9AEC2"/>
                </a:solidFill>
                <a:latin typeface="맑은 고딕"/>
                <a:ea typeface="맑은 고딕"/>
              </a:rPr>
              <a:t>DAI · 정치성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20">
                <a:solidFill>
                  <a:srgbClr val="1391B8"/>
                </a:solidFill>
                <a:latin typeface="맑은 고딕"/>
                <a:ea typeface="맑은 고딕"/>
              </a:rPr>
              <a:t>핵심 역량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32104"/>
            <a:ext cx="1737360" cy="0"/>
          </a:xfrm>
          <a:prstGeom prst="bentConnector3">
            <a:avLst/>
          </a:prstGeom>
          <a:ln w="25400">
            <a:solidFill>
              <a:srgbClr val="1391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32688"/>
            <a:ext cx="10789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71A2E"/>
                </a:solidFill>
                <a:latin typeface="맑은 고딕"/>
                <a:ea typeface="맑은 고딕"/>
              </a:rPr>
              <a:t>복잡한 요구를 </a:t>
            </a:r>
            <a:r>
              <a:rPr sz="3300" b="1">
                <a:solidFill>
                  <a:srgbClr val="0C6D8C"/>
                </a:solidFill>
                <a:latin typeface="맑은 고딕"/>
                <a:ea typeface="맑은 고딕"/>
              </a:rPr>
              <a:t>서비스 정책과 업무 흐름</a:t>
            </a:r>
            <a:r>
              <a:rPr sz="3300" b="1">
                <a:solidFill>
                  <a:srgbClr val="171A2E"/>
                </a:solidFill>
                <a:latin typeface="맑은 고딕"/>
                <a:ea typeface="맑은 고딕"/>
              </a:rPr>
              <a:t>으로 구체화하고, 팀의 실행으로 연결해 왔습니다.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50">
                <a:solidFill>
                  <a:srgbClr val="7C8299"/>
                </a:solidFill>
                <a:latin typeface="맑은 고딕"/>
                <a:ea typeface="맑은 고딕"/>
              </a:rPr>
              <a:t>경험 · 도메인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3317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50">
                <a:solidFill>
                  <a:srgbClr val="7C8299"/>
                </a:solidFill>
                <a:latin typeface="맑은 고딕"/>
                <a:ea typeface="맑은 고딕"/>
              </a:rPr>
              <a:t>사용자가 완료할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3317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50">
                <a:solidFill>
                  <a:srgbClr val="7C8299"/>
                </a:solidFill>
                <a:latin typeface="맑은 고딕"/>
                <a:ea typeface="맑은 고딕"/>
              </a:rPr>
              <a:t>현장의 처리 업무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23317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50">
                <a:solidFill>
                  <a:srgbClr val="7C8299"/>
                </a:solidFill>
                <a:latin typeface="맑은 고딕"/>
                <a:ea typeface="맑은 고딕"/>
              </a:rPr>
              <a:t>무엇을 증명하나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715768"/>
            <a:ext cx="10789920" cy="0"/>
          </a:xfrm>
          <a:prstGeom prst="bentConnector3">
            <a:avLst/>
          </a:prstGeom>
          <a:ln w="20320">
            <a:solidFill>
              <a:srgbClr val="17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852928"/>
            <a:ext cx="2468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A2E"/>
                </a:solidFill>
                <a:latin typeface="맑은 고딕"/>
                <a:ea typeface="맑은 고딕"/>
              </a:rPr>
              <a:t>굿리치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7C8299"/>
                </a:solidFill>
                <a:latin typeface="맑은 고딕"/>
                <a:ea typeface="맑은 고딕"/>
              </a:rPr>
              <a:t>보험 · 인슈어테크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852928"/>
            <a:ext cx="28346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보험분석을 위한 상담신청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852928"/>
            <a:ext cx="3657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상담 활용 정보의 품질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95560" y="3035808"/>
            <a:ext cx="1417320" cy="402336"/>
          </a:xfrm>
          <a:prstGeom prst="roundRect">
            <a:avLst>
              <a:gd name="adj" fmla="val 10000"/>
            </a:avLst>
          </a:prstGeom>
          <a:solidFill>
            <a:srgbClr val="E7F4F9"/>
          </a:solidFill>
          <a:ln w="12700">
            <a:solidFill>
              <a:srgbClr val="CB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6D8C"/>
                </a:solidFill>
                <a:latin typeface="맑은 고딕"/>
                <a:ea typeface="맑은 고딕"/>
              </a:rPr>
              <a:t>전환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602736"/>
            <a:ext cx="10789920" cy="0"/>
          </a:xfrm>
          <a:prstGeom prst="bentConnector3">
            <a:avLst/>
          </a:prstGeom>
          <a:ln w="127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3602736"/>
            <a:ext cx="2468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A2E"/>
                </a:solidFill>
                <a:latin typeface="맑은 고딕"/>
                <a:ea typeface="맑은 고딕"/>
              </a:rPr>
              <a:t>THK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7C8299"/>
                </a:solidFill>
                <a:latin typeface="맑은 고딕"/>
                <a:ea typeface="맑은 고딕"/>
              </a:rPr>
              <a:t>장기요양 · 돌봄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602736"/>
            <a:ext cx="28346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수급자 자격·구매 정보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602736"/>
            <a:ext cx="3657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주문·직배송의 확인과 예외 처리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3785616"/>
            <a:ext cx="1417320" cy="402336"/>
          </a:xfrm>
          <a:prstGeom prst="roundRect">
            <a:avLst>
              <a:gd name="adj" fmla="val 10000"/>
            </a:avLst>
          </a:prstGeom>
          <a:solidFill>
            <a:srgbClr val="E7F4F9"/>
          </a:solidFill>
          <a:ln w="12700">
            <a:solidFill>
              <a:srgbClr val="CB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6D8C"/>
                </a:solidFill>
                <a:latin typeface="맑은 고딕"/>
                <a:ea typeface="맑은 고딕"/>
              </a:rPr>
              <a:t>운영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4352544"/>
            <a:ext cx="10789920" cy="0"/>
          </a:xfrm>
          <a:prstGeom prst="bentConnector3">
            <a:avLst/>
          </a:prstGeom>
          <a:ln w="127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4352544"/>
            <a:ext cx="2468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A2E"/>
                </a:solidFill>
                <a:latin typeface="맑은 고딕"/>
                <a:ea typeface="맑은 고딕"/>
              </a:rPr>
              <a:t>더베스트페이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7C8299"/>
                </a:solidFill>
                <a:latin typeface="맑은 고딕"/>
                <a:ea typeface="맑은 고딕"/>
              </a:rPr>
              <a:t>병원 원무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352544"/>
            <a:ext cx="28346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예약·조회·수납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352544"/>
            <a:ext cx="3657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EMR 연동과 기관별 요구 조율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95560" y="4535424"/>
            <a:ext cx="1417320" cy="402336"/>
          </a:xfrm>
          <a:prstGeom prst="roundRect">
            <a:avLst>
              <a:gd name="adj" fmla="val 10000"/>
            </a:avLst>
          </a:prstGeom>
          <a:solidFill>
            <a:srgbClr val="E7F4F9"/>
          </a:solidFill>
          <a:ln w="12700">
            <a:solidFill>
              <a:srgbClr val="CB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6D8C"/>
                </a:solidFill>
                <a:latin typeface="맑은 고딕"/>
                <a:ea typeface="맑은 고딕"/>
              </a:rPr>
              <a:t>연동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5102352"/>
            <a:ext cx="10789920" cy="0"/>
          </a:xfrm>
          <a:prstGeom prst="bentConnector3">
            <a:avLst/>
          </a:prstGeom>
          <a:ln w="127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" y="5102352"/>
            <a:ext cx="2468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A2E"/>
                </a:solidFill>
                <a:latin typeface="맑은 고딕"/>
                <a:ea typeface="맑은 고딕"/>
              </a:rPr>
              <a:t>코나아이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7C8299"/>
                </a:solidFill>
                <a:latin typeface="맑은 고딕"/>
                <a:ea typeface="맑은 고딕"/>
              </a:rPr>
              <a:t>지역화폐 · 결제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5102352"/>
            <a:ext cx="28346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지역화폐·카드 이용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102352"/>
            <a:ext cx="3657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3개 팀 요청의 우선순위·실행 관리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95560" y="5285232"/>
            <a:ext cx="1417320" cy="402336"/>
          </a:xfrm>
          <a:prstGeom prst="roundRect">
            <a:avLst>
              <a:gd name="adj" fmla="val 10000"/>
            </a:avLst>
          </a:prstGeom>
          <a:solidFill>
            <a:srgbClr val="E7F4F9"/>
          </a:solidFill>
          <a:ln w="12700">
            <a:solidFill>
              <a:srgbClr val="CB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6D8C"/>
                </a:solidFill>
                <a:latin typeface="맑은 고딕"/>
                <a:ea typeface="맑은 고딕"/>
              </a:rPr>
              <a:t>조직 실행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5800" y="5852160"/>
            <a:ext cx="10789920" cy="0"/>
          </a:xfrm>
          <a:prstGeom prst="bentConnector3">
            <a:avLst/>
          </a:prstGeom>
          <a:ln w="127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" y="601675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A2E"/>
                </a:solidFill>
                <a:latin typeface="맑은 고딕"/>
                <a:ea typeface="맑은 고딕"/>
              </a:rPr>
              <a:t>제품의 세부 내용을 이해하면서, 여러 조직의 실행을 함께 챙길 수 있습니다.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382512"/>
            <a:ext cx="8778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299"/>
                </a:solidFill>
                <a:latin typeface="맑은 고딕"/>
                <a:ea typeface="맑은 고딕"/>
              </a:rPr>
              <a:t>사용자가 무엇을 완료해야 하는지와, 운영자가 어떻게 처리해야 하는지를 함께 설계해 왔습니다.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38251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7C8299"/>
                </a:solidFill>
                <a:latin typeface="맑은 고딕"/>
                <a:ea typeface="맑은 고딕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4572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9AEC2"/>
                </a:solidFill>
                <a:latin typeface="맑은 고딕"/>
                <a:ea typeface="맑은 고딕"/>
              </a:rPr>
              <a:t>DAI · 정치성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20">
                <a:solidFill>
                  <a:srgbClr val="1391B8"/>
                </a:solidFill>
                <a:latin typeface="맑은 고딕"/>
                <a:ea typeface="맑은 고딕"/>
              </a:rPr>
              <a:t>사례 01 · 굿리치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32104"/>
            <a:ext cx="1737360" cy="0"/>
          </a:xfrm>
          <a:prstGeom prst="bentConnector3">
            <a:avLst/>
          </a:prstGeom>
          <a:ln w="25400">
            <a:solidFill>
              <a:srgbClr val="1391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32688"/>
            <a:ext cx="10789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71A2E"/>
                </a:solidFill>
                <a:latin typeface="맑은 고딕"/>
                <a:ea typeface="맑은 고딕"/>
              </a:rPr>
              <a:t>보험분석 상담신청 페이지 </a:t>
            </a:r>
            <a:r>
              <a:rPr sz="3300" b="1">
                <a:solidFill>
                  <a:srgbClr val="0C6D8C"/>
                </a:solidFill>
                <a:latin typeface="맑은 고딕"/>
                <a:ea typeface="맑은 고딕"/>
              </a:rPr>
              <a:t>전환율 20% 개선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C6D8C"/>
                </a:solidFill>
                <a:latin typeface="맑은 고딕"/>
                <a:ea typeface="맑은 고딕"/>
              </a:rPr>
              <a:t>— 페이지 수정 전 대비, 해당 페이지의 상담신청 전환율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1">
                <a:solidFill>
                  <a:srgbClr val="0C6D8C"/>
                </a:solidFill>
                <a:latin typeface="맑은 고딕"/>
                <a:ea typeface="맑은 고딕"/>
              </a:rPr>
              <a:t>20</a:t>
            </a:r>
            <a:r>
              <a:rPr sz="7800" b="1">
                <a:solidFill>
                  <a:srgbClr val="7C8299"/>
                </a:solidFill>
                <a:latin typeface="맑은 고딕"/>
                <a:ea typeface="맑은 고딕"/>
              </a:rPr>
              <a:t>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651760"/>
            <a:ext cx="868680" cy="402336"/>
          </a:xfrm>
          <a:prstGeom prst="roundRect">
            <a:avLst>
              <a:gd name="adj" fmla="val 10000"/>
            </a:avLst>
          </a:prstGeom>
          <a:solidFill>
            <a:srgbClr val="E7F4F9"/>
          </a:solidFill>
          <a:ln w="12700">
            <a:solidFill>
              <a:srgbClr val="CB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6D8C"/>
                </a:solidFill>
                <a:latin typeface="맑은 고딕"/>
                <a:ea typeface="맑은 고딕"/>
              </a:rPr>
              <a:t>개선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75887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C6D8C"/>
                </a:solidFill>
                <a:latin typeface="맑은 고딕"/>
                <a:ea typeface="맑은 고딕"/>
              </a:rPr>
              <a:t>보험분석 상담신청 페이지</a:t>
            </a:r>
            <a:r>
              <a:rPr sz="1450" b="0">
                <a:solidFill>
                  <a:srgbClr val="171A2E"/>
                </a:solidFill>
                <a:latin typeface="맑은 고딕"/>
                <a:ea typeface="맑은 고딕"/>
              </a:rPr>
              <a:t>의 상담신청 전환율, 수정 전 대비 개선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4480560"/>
            <a:ext cx="4572000" cy="0"/>
          </a:xfrm>
          <a:prstGeom prst="bentConnector3">
            <a:avLst/>
          </a:prstGeom>
          <a:ln w="127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4553712"/>
            <a:ext cx="960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C6D8C"/>
                </a:solidFill>
                <a:latin typeface="맑은 고딕"/>
                <a:ea typeface="맑은 고딕"/>
              </a:rPr>
              <a:t>문제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553712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3F57"/>
                </a:solidFill>
                <a:latin typeface="맑은 고딕"/>
                <a:ea typeface="맑은 고딕"/>
              </a:rPr>
              <a:t>상담신청 과정의 반복 확인 단계가 고객 부담·이탈 요인으로 작용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" y="4983480"/>
            <a:ext cx="4572000" cy="0"/>
          </a:xfrm>
          <a:prstGeom prst="bentConnector3">
            <a:avLst/>
          </a:prstGeom>
          <a:ln w="127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5056632"/>
            <a:ext cx="960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C6D8C"/>
                </a:solidFill>
                <a:latin typeface="맑은 고딕"/>
                <a:ea typeface="맑은 고딕"/>
              </a:rPr>
              <a:t>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056632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3F57"/>
                </a:solidFill>
                <a:latin typeface="맑은 고딕"/>
                <a:ea typeface="맑은 고딕"/>
              </a:rPr>
              <a:t>반복 부담을 확인하고, 해당 확인 단계와 신청 흐름을 개선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232" y="5486400"/>
            <a:ext cx="4572000" cy="0"/>
          </a:xfrm>
          <a:prstGeom prst="bentConnector3">
            <a:avLst/>
          </a:prstGeom>
          <a:ln w="127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2" y="5559552"/>
            <a:ext cx="960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C6D8C"/>
                </a:solidFill>
                <a:latin typeface="맑은 고딕"/>
                <a:ea typeface="맑은 고딕"/>
              </a:rPr>
              <a:t>결과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559552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3F57"/>
                </a:solidFill>
                <a:latin typeface="맑은 고딕"/>
                <a:ea typeface="맑은 고딕"/>
              </a:rPr>
              <a:t>수정 반영 후 해당 페이지 상담신청 전환율 기존 대비 20% 개선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2" y="5989320"/>
            <a:ext cx="4572000" cy="0"/>
          </a:xfrm>
          <a:prstGeom prst="bentConnector3">
            <a:avLst/>
          </a:prstGeom>
          <a:ln w="127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2" y="6062472"/>
            <a:ext cx="960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C6D8C"/>
                </a:solidFill>
                <a:latin typeface="맑은 고딕"/>
                <a:ea typeface="맑은 고딕"/>
              </a:rPr>
              <a:t>함께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6062472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3F57"/>
                </a:solidFill>
                <a:latin typeface="맑은 고딕"/>
                <a:ea typeface="맑은 고딕"/>
              </a:rPr>
              <a:t>설계사 클레임 비율을 함께 점검 — 상담 활용 정보 품질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2860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AEC2"/>
                </a:solidFill>
                <a:latin typeface="맑은 고딕"/>
                <a:ea typeface="맑은 고딕"/>
              </a:rPr>
              <a:t>신청 과정 개념도 · 실제 화면 아님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0" y="2697480"/>
            <a:ext cx="58521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24728" y="28163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60">
                <a:solidFill>
                  <a:srgbClr val="7C8299"/>
                </a:solidFill>
                <a:latin typeface="맑은 고딕"/>
                <a:ea typeface="맑은 고딕"/>
              </a:rPr>
              <a:t>개선 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24728" y="3127248"/>
            <a:ext cx="1143000" cy="50292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2E"/>
                </a:solidFill>
                <a:latin typeface="맑은 고딕"/>
                <a:ea typeface="맑은 고딕"/>
              </a:rPr>
              <a:t>분석 요청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67728" y="3374136"/>
            <a:ext cx="256032" cy="0"/>
          </a:xfrm>
          <a:prstGeom prst="bentConnector3">
            <a:avLst/>
          </a:prstGeom>
          <a:ln w="17780">
            <a:solidFill>
              <a:srgbClr val="A9AE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223760" y="3127248"/>
            <a:ext cx="1143000" cy="502920"/>
          </a:xfrm>
          <a:prstGeom prst="roundRect">
            <a:avLst>
              <a:gd name="adj" fmla="val 10000"/>
            </a:avLst>
          </a:prstGeom>
          <a:solidFill>
            <a:srgbClr val="FDEEF0"/>
          </a:solidFill>
          <a:ln w="12700">
            <a:solidFill>
              <a:srgbClr val="F3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23A4A"/>
                </a:solidFill>
                <a:latin typeface="맑은 고딕"/>
                <a:ea typeface="맑은 고딕"/>
              </a:rPr>
              <a:t>반복 확인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66760" y="3374136"/>
            <a:ext cx="256032" cy="0"/>
          </a:xfrm>
          <a:prstGeom prst="bentConnector3">
            <a:avLst/>
          </a:prstGeom>
          <a:ln w="17780">
            <a:solidFill>
              <a:srgbClr val="A9AE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622792" y="3127248"/>
            <a:ext cx="1143000" cy="502920"/>
          </a:xfrm>
          <a:prstGeom prst="roundRect">
            <a:avLst>
              <a:gd name="adj" fmla="val 10000"/>
            </a:avLst>
          </a:prstGeom>
          <a:solidFill>
            <a:srgbClr val="FDEEF0"/>
          </a:solidFill>
          <a:ln w="12700">
            <a:solidFill>
              <a:srgbClr val="F3C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23A4A"/>
                </a:solidFill>
                <a:latin typeface="맑은 고딕"/>
                <a:ea typeface="맑은 고딕"/>
              </a:rPr>
              <a:t>반복 확인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65792" y="3374136"/>
            <a:ext cx="256032" cy="0"/>
          </a:xfrm>
          <a:prstGeom prst="bentConnector3">
            <a:avLst/>
          </a:prstGeom>
          <a:ln w="17780">
            <a:solidFill>
              <a:srgbClr val="A9AE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021824" y="3127248"/>
            <a:ext cx="1143000" cy="502920"/>
          </a:xfrm>
          <a:prstGeom prst="roundRect">
            <a:avLst>
              <a:gd name="adj" fmla="val 10000"/>
            </a:avLst>
          </a:prstGeom>
          <a:solidFill>
            <a:srgbClr val="FBFAF6"/>
          </a:solidFill>
          <a:ln w="12700">
            <a:solidFill>
              <a:srgbClr val="A9AE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8299"/>
                </a:solidFill>
                <a:latin typeface="맑은 고딕"/>
                <a:ea typeface="맑은 고딕"/>
              </a:rPr>
              <a:t>이탈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728" y="371246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23A4A"/>
                </a:solidFill>
                <a:latin typeface="맑은 고딕"/>
                <a:ea typeface="맑은 고딕"/>
              </a:rPr>
              <a:t>반복 확인 단계가 고객 부담을 키워 이탈로 이어짐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4297680"/>
            <a:ext cx="58521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13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24728" y="44165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60">
                <a:solidFill>
                  <a:srgbClr val="0C6D8C"/>
                </a:solidFill>
                <a:latin typeface="맑은 고딕"/>
                <a:ea typeface="맑은 고딕"/>
              </a:rPr>
              <a:t>개선 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44165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C6D8C"/>
                </a:solidFill>
                <a:latin typeface="맑은 고딕"/>
                <a:ea typeface="맑은 고딕"/>
              </a:rPr>
              <a:t>전환율 ▲ 20% 개선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24728" y="4736592"/>
            <a:ext cx="1600200" cy="50292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A2E"/>
                </a:solidFill>
                <a:latin typeface="맑은 고딕"/>
                <a:ea typeface="맑은 고딕"/>
              </a:rPr>
              <a:t>분석 요청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424928" y="4983480"/>
            <a:ext cx="256032" cy="0"/>
          </a:xfrm>
          <a:prstGeom prst="bentConnector3">
            <a:avLst/>
          </a:prstGeom>
          <a:ln w="20320">
            <a:solidFill>
              <a:srgbClr val="1391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680960" y="4736592"/>
            <a:ext cx="1600200" cy="502920"/>
          </a:xfrm>
          <a:prstGeom prst="roundRect">
            <a:avLst>
              <a:gd name="adj" fmla="val 10000"/>
            </a:avLst>
          </a:prstGeom>
          <a:solidFill>
            <a:srgbClr val="E7F4F9"/>
          </a:solidFill>
          <a:ln w="12700">
            <a:solidFill>
              <a:srgbClr val="A8D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6D8C"/>
                </a:solidFill>
                <a:latin typeface="맑은 고딕"/>
                <a:ea typeface="맑은 고딕"/>
              </a:rPr>
              <a:t>확인 단계 간소화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281160" y="4983480"/>
            <a:ext cx="256032" cy="0"/>
          </a:xfrm>
          <a:prstGeom prst="bentConnector3">
            <a:avLst/>
          </a:prstGeom>
          <a:ln w="20320">
            <a:solidFill>
              <a:srgbClr val="1391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37192" y="4736592"/>
            <a:ext cx="1600200" cy="502920"/>
          </a:xfrm>
          <a:prstGeom prst="roundRect">
            <a:avLst>
              <a:gd name="adj" fmla="val 10000"/>
            </a:avLst>
          </a:prstGeom>
          <a:solidFill>
            <a:srgbClr val="E7F4F9"/>
          </a:solidFill>
          <a:ln w="12700">
            <a:solidFill>
              <a:srgbClr val="A8D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6D8C"/>
                </a:solidFill>
                <a:latin typeface="맑은 고딕"/>
                <a:ea typeface="맑은 고딕"/>
              </a:rPr>
              <a:t>상담신청 완료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4728" y="5321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C6D8C"/>
                </a:solidFill>
                <a:latin typeface="맑은 고딕"/>
                <a:ea typeface="맑은 고딕"/>
              </a:rPr>
              <a:t>반복 확인 부담을 줄여 신청 완료 흐름을 정리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382512"/>
            <a:ext cx="8778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299"/>
                </a:solidFill>
                <a:latin typeface="맑은 고딕"/>
                <a:ea typeface="맑은 고딕"/>
              </a:rPr>
              <a:t>사용자 편의와 사업 전환, 운영 품질을 함께 확인한 경험 · 전후 전환율 절대값은 제공되지 않아 표기하지 않음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38251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7C8299"/>
                </a:solidFill>
                <a:latin typeface="맑은 고딕"/>
                <a:ea typeface="맑은 고딕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4572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9AEC2"/>
                </a:solidFill>
                <a:latin typeface="맑은 고딕"/>
                <a:ea typeface="맑은 고딕"/>
              </a:rPr>
              <a:t>DAI · 정치성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20">
                <a:solidFill>
                  <a:srgbClr val="1391B8"/>
                </a:solidFill>
                <a:latin typeface="맑은 고딕"/>
                <a:ea typeface="맑은 고딕"/>
              </a:rPr>
              <a:t>사례 02 · THK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32104"/>
            <a:ext cx="1737360" cy="0"/>
          </a:xfrm>
          <a:prstGeom prst="bentConnector3">
            <a:avLst/>
          </a:prstGeom>
          <a:ln w="25400">
            <a:solidFill>
              <a:srgbClr val="1391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32688"/>
            <a:ext cx="10789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71A2E"/>
                </a:solidFill>
                <a:latin typeface="맑은 고딕"/>
                <a:ea typeface="맑은 고딕"/>
              </a:rPr>
              <a:t>직배송 확인 업무를 </a:t>
            </a:r>
            <a:r>
              <a:rPr sz="3300" b="1">
                <a:solidFill>
                  <a:srgbClr val="0C6D8C"/>
                </a:solidFill>
                <a:latin typeface="맑은 고딕"/>
                <a:ea typeface="맑은 고딕"/>
              </a:rPr>
              <a:t>시스템으로 구조화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C6D8C"/>
                </a:solidFill>
                <a:latin typeface="맑은 고딕"/>
                <a:ea typeface="맑은 고딕"/>
              </a:rPr>
              <a:t>— 일일 처리업무 약 6시간 → 약 2시간 · 고물량 제조사 적용 구간 기준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" y="2514600"/>
            <a:ext cx="4572000" cy="0"/>
          </a:xfrm>
          <a:prstGeom prst="bentConnector3">
            <a:avLst/>
          </a:prstGeom>
          <a:ln w="127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2606040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6D8C"/>
                </a:solidFill>
                <a:latin typeface="맑은 고딕"/>
                <a:ea typeface="맑은 고딕"/>
              </a:rPr>
              <a:t>개선 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0604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3F57"/>
                </a:solidFill>
                <a:latin typeface="맑은 고딕"/>
                <a:ea typeface="맑은 고딕"/>
              </a:rPr>
              <a:t>재고 미보유 주문의 수기 확인과 제조사와의 개별 연락 · 주문 진행·예외 확인에 업무 집중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3355848"/>
            <a:ext cx="4572000" cy="0"/>
          </a:xfrm>
          <a:prstGeom prst="bentConnector3">
            <a:avLst/>
          </a:prstGeom>
          <a:ln w="127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3447288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6D8C"/>
                </a:solidFill>
                <a:latin typeface="맑은 고딕"/>
                <a:ea typeface="맑은 고딕"/>
              </a:rPr>
              <a:t>본인 변경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447288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3F57"/>
                </a:solidFill>
                <a:latin typeface="맑은 고딕"/>
                <a:ea typeface="맑은 고딕"/>
              </a:rPr>
              <a:t>주문 상태와 처리 흐름을 정리하고, 담당 업무·예외 처리를 관리자 시스템에 반영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" y="4197096"/>
            <a:ext cx="4572000" cy="0"/>
          </a:xfrm>
          <a:prstGeom prst="bentConnector3">
            <a:avLst/>
          </a:prstGeom>
          <a:ln w="127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4288536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6D8C"/>
                </a:solidFill>
                <a:latin typeface="맑은 고딕"/>
                <a:ea typeface="맑은 고딕"/>
              </a:rPr>
              <a:t>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28853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3F57"/>
                </a:solidFill>
                <a:latin typeface="맑은 고딕"/>
                <a:ea typeface="맑은 고딕"/>
              </a:rPr>
              <a:t>제조사별 운영 여건에 맞춰 적용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129784"/>
            <a:ext cx="4572000" cy="9144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5129784"/>
            <a:ext cx="54864" cy="914400"/>
          </a:xfrm>
          <a:prstGeom prst="rect">
            <a:avLst/>
          </a:prstGeom>
          <a:solidFill>
            <a:srgbClr val="A9A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A3F57"/>
                </a:solidFill>
                <a:latin typeface="맑은 고딕"/>
                <a:ea typeface="맑은 고딕"/>
              </a:rPr>
              <a:t>약 30</a:t>
            </a:r>
            <a:r>
              <a:rPr sz="2700" b="1">
                <a:solidFill>
                  <a:srgbClr val="3A3F57"/>
                </a:solidFill>
                <a:latin typeface="맑은 고딕"/>
                <a:ea typeface="맑은 고딕"/>
              </a:rPr>
              <a:t>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5239512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40">
                <a:solidFill>
                  <a:srgbClr val="7C8299"/>
                </a:solidFill>
                <a:latin typeface="맑은 고딕"/>
                <a:ea typeface="맑은 고딕"/>
              </a:rPr>
              <a:t>보조 근거 · 수급자 조회·관리 기능 이용률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3A3F57"/>
                </a:solidFill>
                <a:latin typeface="맑은 고딕"/>
                <a:ea typeface="맑은 고딕"/>
              </a:rPr>
              <a:t>수급자 자격·급여 기준·구매 가능 정보 조회·관리 기능을 함께 </a:t>
            </a:r>
            <a:r>
              <a:rPr sz="1300" b="1">
                <a:solidFill>
                  <a:srgbClr val="171A2E"/>
                </a:solidFill>
                <a:latin typeface="맑은 고딕"/>
                <a:ea typeface="맑은 고딕"/>
              </a:rPr>
              <a:t>고도화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33172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AEC2"/>
                </a:solidFill>
                <a:latin typeface="맑은 고딕"/>
                <a:ea typeface="맑은 고딕"/>
              </a:rPr>
              <a:t>일일 처리업무 시간 비교 · 고물량 제조사 적용 구간 기준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2697480"/>
            <a:ext cx="5852160" cy="2788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288036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A9AEC2"/>
                </a:solidFill>
                <a:latin typeface="맑은 고딕"/>
                <a:ea typeface="맑은 고딕"/>
              </a:rPr>
              <a:t>단위 : 하루 처리업무 시간(h) · 동일 척도 비교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38328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A2E"/>
                </a:solidFill>
                <a:latin typeface="맑은 고딕"/>
                <a:ea typeface="맑은 고딕"/>
              </a:rPr>
              <a:t>개선 전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7C8299"/>
                </a:solidFill>
                <a:latin typeface="맑은 고딕"/>
                <a:ea typeface="맑은 고딕"/>
              </a:rPr>
              <a:t>수기 확인 중심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3364992"/>
            <a:ext cx="4023360" cy="566928"/>
          </a:xfrm>
          <a:prstGeom prst="roundRect">
            <a:avLst>
              <a:gd name="adj" fmla="val 10000"/>
            </a:avLst>
          </a:prstGeom>
          <a:solidFill>
            <a:srgbClr val="B6B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  약 6시간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416052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A2E"/>
                </a:solidFill>
                <a:latin typeface="맑은 고딕"/>
                <a:ea typeface="맑은 고딕"/>
              </a:rPr>
              <a:t>개선 후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7C8299"/>
                </a:solidFill>
                <a:latin typeface="맑은 고딕"/>
                <a:ea typeface="맑은 고딕"/>
              </a:rPr>
              <a:t>시스템 구조화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4142232"/>
            <a:ext cx="1341120" cy="566928"/>
          </a:xfrm>
          <a:prstGeom prst="roundRect">
            <a:avLst>
              <a:gd name="adj" fmla="val 1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  약 2시간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97880" y="4983480"/>
            <a:ext cx="5303520" cy="0"/>
          </a:xfrm>
          <a:prstGeom prst="bentConnector3">
            <a:avLst/>
          </a:prstGeom>
          <a:ln w="127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97880" y="51206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C6D8C"/>
                </a:solidFill>
                <a:latin typeface="맑은 고딕"/>
                <a:ea typeface="맑은 고딕"/>
              </a:rPr>
              <a:t>적용 범위 : 고물량 제조사 적용 구간의 일일 처리업무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382512"/>
            <a:ext cx="8778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299"/>
                </a:solidFill>
                <a:latin typeface="맑은 고딕"/>
                <a:ea typeface="맑은 고딕"/>
              </a:rPr>
              <a:t>사용자 기능과 운영자의 처리 기준을 함께 설계 · 처리시간 개선은 고물량 제조사 적용 구간 한정(전사 생산성 아님)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38251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7C8299"/>
                </a:solidFill>
                <a:latin typeface="맑은 고딕"/>
                <a:ea typeface="맑은 고딕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4572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9AEC2"/>
                </a:solidFill>
                <a:latin typeface="맑은 고딕"/>
                <a:ea typeface="맑은 고딕"/>
              </a:rPr>
              <a:t>DAI · 정치성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20">
                <a:solidFill>
                  <a:srgbClr val="1391B8"/>
                </a:solidFill>
                <a:latin typeface="맑은 고딕"/>
                <a:ea typeface="맑은 고딕"/>
              </a:rPr>
              <a:t>사례 03 · 병원 원무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32104"/>
            <a:ext cx="1737360" cy="0"/>
          </a:xfrm>
          <a:prstGeom prst="bentConnector3">
            <a:avLst/>
          </a:prstGeom>
          <a:ln w="25400">
            <a:solidFill>
              <a:srgbClr val="1391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32688"/>
            <a:ext cx="10789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71A2E"/>
                </a:solidFill>
                <a:latin typeface="맑은 고딕"/>
                <a:ea typeface="맑은 고딕"/>
              </a:rPr>
              <a:t>EMR API와 환자 이용 흐름을 연결한 </a:t>
            </a:r>
            <a:r>
              <a:rPr sz="3300" b="1">
                <a:solidFill>
                  <a:srgbClr val="0C6D8C"/>
                </a:solidFill>
                <a:latin typeface="맑은 고딕"/>
                <a:ea typeface="맑은 고딕"/>
              </a:rPr>
              <a:t>원무 서비스 기획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6D8C"/>
                </a:solidFill>
                <a:latin typeface="맑은 고딕"/>
                <a:ea typeface="맑은 고딕"/>
              </a:rPr>
              <a:t>환자 이용 흐름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173736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A2E"/>
                </a:solidFill>
                <a:latin typeface="맑은 고딕"/>
                <a:ea typeface="맑은 고딕"/>
              </a:rPr>
              <a:t>예약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03320" y="2011680"/>
            <a:ext cx="777240" cy="0"/>
          </a:xfrm>
          <a:prstGeom prst="bentConnector3">
            <a:avLst/>
          </a:prstGeom>
          <a:ln w="22860">
            <a:solidFill>
              <a:srgbClr val="1391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80560" y="173736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A2E"/>
                </a:solidFill>
                <a:latin typeface="맑은 고딕"/>
                <a:ea typeface="맑은 고딕"/>
              </a:rPr>
              <a:t>도착 확인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2011680"/>
            <a:ext cx="777240" cy="0"/>
          </a:xfrm>
          <a:prstGeom prst="bentConnector3">
            <a:avLst/>
          </a:prstGeom>
          <a:ln w="22860">
            <a:solidFill>
              <a:srgbClr val="1391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12280" y="173736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A2E"/>
                </a:solidFill>
                <a:latin typeface="맑은 고딕"/>
                <a:ea typeface="맑은 고딕"/>
              </a:rPr>
              <a:t>조회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66760" y="2011680"/>
            <a:ext cx="777240" cy="0"/>
          </a:xfrm>
          <a:prstGeom prst="bentConnector3">
            <a:avLst/>
          </a:prstGeom>
          <a:ln w="22860">
            <a:solidFill>
              <a:srgbClr val="1391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0" y="173736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A2E"/>
                </a:solidFill>
                <a:latin typeface="맑은 고딕"/>
                <a:ea typeface="맑은 고딕"/>
              </a:rPr>
              <a:t>수납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97480"/>
            <a:ext cx="64008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13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2843784"/>
            <a:ext cx="384048" cy="384048"/>
          </a:xfrm>
          <a:prstGeom prst="roundRect">
            <a:avLst>
              <a:gd name="adj" fmla="val 1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78892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A2E"/>
                </a:solidFill>
                <a:latin typeface="맑은 고딕"/>
                <a:ea typeface="맑은 고딕"/>
              </a:rPr>
              <a:t>원무 모바일 서비스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7C8299"/>
                </a:solidFill>
                <a:latin typeface="맑은 고딕"/>
                <a:ea typeface="맑은 고딕"/>
              </a:rPr>
              <a:t>환자 이용 흐름 · 운영 확인 · 예외 처리 고려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7413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C6D8C"/>
                </a:solidFill>
                <a:latin typeface="맑은 고딕"/>
                <a:ea typeface="맑은 고딕"/>
              </a:rPr>
              <a:t>▲ 기존 API 연동 (수행)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30168"/>
            <a:ext cx="64008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13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3776472"/>
            <a:ext cx="384048" cy="384048"/>
          </a:xfrm>
          <a:prstGeom prst="roundRect">
            <a:avLst>
              <a:gd name="adj" fmla="val 1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21608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A2E"/>
                </a:solidFill>
                <a:latin typeface="맑은 고딕"/>
                <a:ea typeface="맑은 고딕"/>
              </a:rPr>
              <a:t>기존 EMR API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7C8299"/>
                </a:solidFill>
                <a:latin typeface="맑은 고딕"/>
                <a:ea typeface="맑은 고딕"/>
              </a:rPr>
              <a:t>업체가 제공하는 데이터·기능 범위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06824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C6D8C"/>
                </a:solidFill>
                <a:latin typeface="맑은 고딕"/>
                <a:ea typeface="맑은 고딕"/>
              </a:rPr>
              <a:t>▲ 원무 절차 기반 기능 검토·조율 (수행)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562856"/>
            <a:ext cx="64008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13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4709160"/>
            <a:ext cx="384048" cy="384048"/>
          </a:xfrm>
          <a:prstGeom prst="roundRect">
            <a:avLst>
              <a:gd name="adj" fmla="val 1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654296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A2E"/>
                </a:solidFill>
                <a:latin typeface="맑은 고딕"/>
                <a:ea typeface="맑은 고딕"/>
              </a:rPr>
              <a:t>병원 원무 절차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7C8299"/>
                </a:solidFill>
                <a:latin typeface="맑은 고딕"/>
                <a:ea typeface="맑은 고딕"/>
              </a:rPr>
              <a:t>병원·EMR사·개발조직 요구사항 조율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2697480"/>
            <a:ext cx="3703320" cy="2542032"/>
          </a:xfrm>
          <a:prstGeom prst="roundRect">
            <a:avLst>
              <a:gd name="adj" fmla="val 10000"/>
            </a:avLst>
          </a:prstGeom>
          <a:solidFill>
            <a:srgbClr val="F7F8FB"/>
          </a:solidFill>
          <a:ln w="17780">
            <a:solidFill>
              <a:srgbClr val="A9AE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88036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40">
                <a:solidFill>
                  <a:srgbClr val="7C8299"/>
                </a:solidFill>
                <a:latin typeface="맑은 고딕"/>
                <a:ea typeface="맑은 고딕"/>
              </a:rPr>
              <a:t>제안 · 검토 (수행 아님)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337560"/>
            <a:ext cx="3291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A3F57"/>
                </a:solidFill>
                <a:latin typeface="맑은 고딕"/>
                <a:ea typeface="맑은 고딕"/>
              </a:rPr>
              <a:t>반복 기능의 </a:t>
            </a:r>
            <a:r>
              <a:rPr sz="1500" b="1">
                <a:solidFill>
                  <a:srgbClr val="171A2E"/>
                </a:solidFill>
                <a:latin typeface="맑은 고딕"/>
                <a:ea typeface="맑은 고딕"/>
              </a:rPr>
              <a:t>공통화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3A3F57"/>
                </a:solidFill>
                <a:latin typeface="맑은 고딕"/>
                <a:ea typeface="맑은 고딕"/>
              </a:rPr>
              <a:t>병원 공통 </a:t>
            </a:r>
            <a:r>
              <a:rPr sz="1500" b="1">
                <a:solidFill>
                  <a:srgbClr val="171A2E"/>
                </a:solidFill>
                <a:latin typeface="맑은 고딕"/>
                <a:ea typeface="맑은 고딕"/>
              </a:rPr>
              <a:t>통합 플랫폼 방향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1300" b="0">
                <a:solidFill>
                  <a:srgbClr val="7C8299"/>
                </a:solidFill>
                <a:latin typeface="맑은 고딕"/>
                <a:ea typeface="맑은 고딕"/>
              </a:rPr>
              <a:t>— 완성한 성과가 아니라, 검토·제안 단계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577840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A3F57"/>
                </a:solidFill>
                <a:latin typeface="맑은 고딕"/>
                <a:ea typeface="맑은 고딕"/>
              </a:rPr>
              <a:t>▢ 수행 경험 — 기존 API 기반 기획·조율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1">
                <a:solidFill>
                  <a:srgbClr val="7C8299"/>
                </a:solidFill>
                <a:latin typeface="맑은 고딕"/>
                <a:ea typeface="맑은 고딕"/>
              </a:rPr>
              <a:t>▨ 제안 · 검토 — 공통화·통합 방향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46320" y="5577840"/>
            <a:ext cx="2103120" cy="0"/>
          </a:xfrm>
          <a:prstGeom prst="bentConnector3">
            <a:avLst/>
          </a:prstGeom>
          <a:ln w="254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846320" y="566928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1A2E"/>
                </a:solidFill>
                <a:latin typeface="맑은 고딕"/>
                <a:ea typeface="맑은 고딕"/>
              </a:rPr>
              <a:t>병원별 차이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</a:rPr>
              <a:t>기관마다 요구사항이 다름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86600" y="5577840"/>
            <a:ext cx="2103120" cy="0"/>
          </a:xfrm>
          <a:prstGeom prst="bentConnector3">
            <a:avLst/>
          </a:prstGeom>
          <a:ln w="254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086600" y="566928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1A2E"/>
                </a:solidFill>
                <a:latin typeface="맑은 고딕"/>
                <a:ea typeface="맑은 고딕"/>
              </a:rPr>
              <a:t>EMR 업체별 차이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</a:rPr>
              <a:t>제공 데이터·기능이 상이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26880" y="5577840"/>
            <a:ext cx="2103120" cy="0"/>
          </a:xfrm>
          <a:prstGeom prst="bentConnector3">
            <a:avLst/>
          </a:prstGeom>
          <a:ln w="254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326880" y="566928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1A2E"/>
                </a:solidFill>
                <a:latin typeface="맑은 고딕"/>
                <a:ea typeface="맑은 고딕"/>
              </a:rPr>
              <a:t>추가 개발·협의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</a:rPr>
              <a:t>협의·비용이 별도로 필요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382512"/>
            <a:ext cx="8778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299"/>
                </a:solidFill>
                <a:latin typeface="맑은 고딕"/>
                <a:ea typeface="맑은 고딕"/>
              </a:rPr>
              <a:t>기관별 조건을 확인하며 공통화 범위와 추가 개발을 판단 · 통합 플랫폼은 제안·검토 단계(구현 완료 아님)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38251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7C8299"/>
                </a:solidFill>
                <a:latin typeface="맑은 고딕"/>
                <a:ea typeface="맑은 고딕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4572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9AEC2"/>
                </a:solidFill>
                <a:latin typeface="맑은 고딕"/>
                <a:ea typeface="맑은 고딕"/>
              </a:rPr>
              <a:t>DAI · 정치성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20">
                <a:solidFill>
                  <a:srgbClr val="1391B8"/>
                </a:solidFill>
                <a:latin typeface="맑은 고딕"/>
                <a:ea typeface="맑은 고딕"/>
              </a:rPr>
              <a:t>사례 04 · 코나아이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32104"/>
            <a:ext cx="1737360" cy="0"/>
          </a:xfrm>
          <a:prstGeom prst="bentConnector3">
            <a:avLst/>
          </a:prstGeom>
          <a:ln w="25400">
            <a:solidFill>
              <a:srgbClr val="1391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32688"/>
            <a:ext cx="10789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71A2E"/>
                </a:solidFill>
                <a:latin typeface="맑은 고딕"/>
                <a:ea typeface="맑은 고딕"/>
              </a:rPr>
              <a:t>여러 사업의 요청을 </a:t>
            </a:r>
            <a:r>
              <a:rPr sz="3300" b="1">
                <a:solidFill>
                  <a:srgbClr val="0C6D8C"/>
                </a:solidFill>
                <a:latin typeface="맑은 고딕"/>
                <a:ea typeface="맑은 고딕"/>
              </a:rPr>
              <a:t>우선순위와 팀별 책임</a:t>
            </a:r>
            <a:r>
              <a:rPr sz="3300" b="1">
                <a:solidFill>
                  <a:srgbClr val="171A2E"/>
                </a:solidFill>
                <a:latin typeface="맑은 고딕"/>
                <a:ea typeface="맑은 고딕"/>
              </a:rPr>
              <a:t>으로 정리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1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D0EE"/>
                </a:solidFill>
                <a:latin typeface="맑은 고딕"/>
                <a:ea typeface="맑은 고딕"/>
              </a:rPr>
              <a:t>본인 · 팀장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3개 팀 운영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3383280"/>
            <a:ext cx="3383280" cy="566928"/>
          </a:xfrm>
          <a:prstGeom prst="roundRect">
            <a:avLst>
              <a:gd name="adj" fmla="val 10000"/>
            </a:avLst>
          </a:prstGeom>
          <a:solidFill>
            <a:srgbClr val="F2FAFC"/>
          </a:solidFill>
          <a:ln w="17780">
            <a:solidFill>
              <a:srgbClr val="13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50215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A2E"/>
                </a:solidFill>
                <a:latin typeface="맑은 고딕"/>
                <a:ea typeface="맑은 고딕"/>
              </a:rPr>
              <a:t>코나카드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52958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C6D8C"/>
                </a:solidFill>
                <a:latin typeface="맑은 고딕"/>
                <a:ea typeface="맑은 고딕"/>
              </a:rPr>
              <a:t>직접 겸직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4069080"/>
            <a:ext cx="338328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418795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A2E"/>
                </a:solidFill>
                <a:latin typeface="맑은 고딕"/>
                <a:ea typeface="맑은 고딕"/>
              </a:rPr>
              <a:t>지역화폐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21538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8299"/>
                </a:solidFill>
                <a:latin typeface="맑은 고딕"/>
                <a:ea typeface="맑은 고딕"/>
              </a:rPr>
              <a:t>팀장 중심 운영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4754880"/>
            <a:ext cx="338328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87375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A2E"/>
                </a:solidFill>
                <a:latin typeface="맑은 고딕"/>
                <a:ea typeface="맑은 고딕"/>
              </a:rPr>
              <a:t>모빌리티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90118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8299"/>
                </a:solidFill>
                <a:latin typeface="맑은 고딕"/>
                <a:ea typeface="맑은 고딕"/>
              </a:rPr>
              <a:t>팀장 중심 운영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3317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40">
                <a:solidFill>
                  <a:srgbClr val="0C6D8C"/>
                </a:solidFill>
                <a:latin typeface="맑은 고딕"/>
                <a:ea typeface="맑은 고딕"/>
              </a:rPr>
              <a:t>우선순위 판단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0" y="2743200"/>
            <a:ext cx="2834640" cy="0"/>
          </a:xfrm>
          <a:prstGeom prst="bentConnector3">
            <a:avLst/>
          </a:prstGeom>
          <a:ln w="254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0" y="3008376"/>
            <a:ext cx="82296" cy="82296"/>
          </a:xfrm>
          <a:prstGeom prst="roundRect">
            <a:avLst>
              <a:gd name="adj" fmla="val 1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42432" y="292608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외부와 </a:t>
            </a:r>
            <a:r>
              <a:rPr sz="1450" b="1">
                <a:solidFill>
                  <a:srgbClr val="171A2E"/>
                </a:solidFill>
                <a:latin typeface="맑은 고딕"/>
                <a:ea typeface="맑은 고딕"/>
              </a:rPr>
              <a:t>합의한 일정·약속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3575304"/>
            <a:ext cx="82296" cy="82296"/>
          </a:xfrm>
          <a:prstGeom prst="roundRect">
            <a:avLst>
              <a:gd name="adj" fmla="val 1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2432" y="3493008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법률·운영 </a:t>
            </a:r>
            <a:r>
              <a:rPr sz="1450" b="1">
                <a:solidFill>
                  <a:srgbClr val="171A2E"/>
                </a:solidFill>
                <a:latin typeface="맑은 고딕"/>
                <a:ea typeface="맑은 고딕"/>
              </a:rPr>
              <a:t>위험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4142232"/>
            <a:ext cx="82296" cy="82296"/>
          </a:xfrm>
          <a:prstGeom prst="roundRect">
            <a:avLst>
              <a:gd name="adj" fmla="val 1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42432" y="4059936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여러 요청을 함께 해결할 </a:t>
            </a:r>
            <a:r>
              <a:rPr sz="1450" b="1">
                <a:solidFill>
                  <a:srgbClr val="171A2E"/>
                </a:solidFill>
                <a:latin typeface="맑은 고딕"/>
                <a:ea typeface="맑은 고딕"/>
              </a:rPr>
              <a:t>공통 과제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3317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40">
                <a:solidFill>
                  <a:srgbClr val="0C6D8C"/>
                </a:solidFill>
                <a:latin typeface="맑은 고딕"/>
                <a:ea typeface="맑은 고딕"/>
              </a:rPr>
              <a:t>실행 관리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0" y="2743200"/>
            <a:ext cx="2834640" cy="0"/>
          </a:xfrm>
          <a:prstGeom prst="bentConnector3">
            <a:avLst/>
          </a:prstGeom>
          <a:ln w="254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686800" y="3008376"/>
            <a:ext cx="82296" cy="82296"/>
          </a:xfrm>
          <a:prstGeom prst="roundRect">
            <a:avLst>
              <a:gd name="adj" fmla="val 1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42832" y="292608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업무 배분과 </a:t>
            </a:r>
            <a:r>
              <a:rPr sz="1450" b="1">
                <a:solidFill>
                  <a:srgbClr val="171A2E"/>
                </a:solidFill>
                <a:latin typeface="맑은 고딕"/>
                <a:ea typeface="맑은 고딕"/>
              </a:rPr>
              <a:t>백로그 정리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3575304"/>
            <a:ext cx="82296" cy="82296"/>
          </a:xfrm>
          <a:prstGeom prst="roundRect">
            <a:avLst>
              <a:gd name="adj" fmla="val 1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2832" y="3493008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PRD 목적·KPI ↔ </a:t>
            </a:r>
            <a:r>
              <a:rPr sz="1450" b="1">
                <a:solidFill>
                  <a:srgbClr val="171A2E"/>
                </a:solidFill>
                <a:latin typeface="맑은 고딕"/>
                <a:ea typeface="맑은 고딕"/>
              </a:rPr>
              <a:t>상세기획 연결</a:t>
            </a: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 확인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4142232"/>
            <a:ext cx="82296" cy="82296"/>
          </a:xfrm>
          <a:prstGeom prst="roundRect">
            <a:avLst>
              <a:gd name="adj" fmla="val 1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42832" y="4059936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71A2E"/>
                </a:solidFill>
                <a:latin typeface="맑은 고딕"/>
                <a:ea typeface="맑은 고딕"/>
              </a:rPr>
              <a:t>Figma</a:t>
            </a: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 기반 산출물 공유·협업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074920"/>
            <a:ext cx="10789920" cy="841248"/>
          </a:xfrm>
          <a:prstGeom prst="roundRect">
            <a:avLst>
              <a:gd name="adj" fmla="val 10000"/>
            </a:avLst>
          </a:prstGeom>
          <a:solidFill>
            <a:srgbClr val="1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5FD0EE"/>
                </a:solidFill>
                <a:latin typeface="맑은 고딕"/>
                <a:ea typeface="맑은 고딕"/>
              </a:rPr>
              <a:t>  DAI 적용   </a:t>
            </a:r>
            <a:r>
              <a:rPr sz="1500" b="0">
                <a:solidFill>
                  <a:srgbClr val="FFFFFF"/>
                </a:solidFill>
                <a:latin typeface="맑은 고딕"/>
                <a:ea typeface="맑은 고딕"/>
              </a:rPr>
              <a:t>어려운 요구가 생기면 </a:t>
            </a:r>
            <a:r>
              <a:rPr sz="1500" b="1">
                <a:solidFill>
                  <a:srgbClr val="5FD0EE"/>
                </a:solidFill>
                <a:latin typeface="맑은 고딕"/>
                <a:ea typeface="맑은 고딕"/>
              </a:rPr>
              <a:t>범위·일정·내부 인력·외부 협업</a:t>
            </a:r>
            <a:r>
              <a:rPr sz="1500" b="0">
                <a:solidFill>
                  <a:srgbClr val="FFFFFF"/>
                </a:solidFill>
                <a:latin typeface="맑은 고딕"/>
                <a:ea typeface="맑은 고딕"/>
              </a:rPr>
              <a:t>의 선택안을 비교하고, 경영진 판단이 필요한 사안에는 </a:t>
            </a:r>
            <a:r>
              <a:rPr sz="1500" b="1">
                <a:solidFill>
                  <a:srgbClr val="5FD0EE"/>
                </a:solidFill>
                <a:latin typeface="맑은 고딕"/>
                <a:ea typeface="맑은 고딕"/>
              </a:rPr>
              <a:t>추천안</a:t>
            </a:r>
            <a:r>
              <a:rPr sz="1500" b="0">
                <a:solidFill>
                  <a:srgbClr val="FFFFFF"/>
                </a:solidFill>
                <a:latin typeface="맑은 고딕"/>
                <a:ea typeface="맑은 고딕"/>
              </a:rPr>
              <a:t>을 제시하겠습니다.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82512"/>
            <a:ext cx="8778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299"/>
                </a:solidFill>
                <a:latin typeface="맑은 고딕"/>
                <a:ea typeface="맑은 고딕"/>
              </a:rPr>
              <a:t>관리자 직함이나 조직 규모가 아니라, 우선순위를 정하고 팀별 책임으로 실행을 이끈 방식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38251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7C8299"/>
                </a:solidFill>
                <a:latin typeface="맑은 고딕"/>
                <a:ea typeface="맑은 고딕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4572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9AEC2"/>
                </a:solidFill>
                <a:latin typeface="맑은 고딕"/>
                <a:ea typeface="맑은 고딕"/>
              </a:rPr>
              <a:t>DAI · 정치성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20">
                <a:solidFill>
                  <a:srgbClr val="1391B8"/>
                </a:solidFill>
                <a:latin typeface="맑은 고딕"/>
                <a:ea typeface="맑은 고딕"/>
              </a:rPr>
              <a:t>AI 활용 · 적용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32104"/>
            <a:ext cx="1737360" cy="0"/>
          </a:xfrm>
          <a:prstGeom prst="bentConnector3">
            <a:avLst/>
          </a:prstGeom>
          <a:ln w="25400">
            <a:solidFill>
              <a:srgbClr val="1391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32688"/>
            <a:ext cx="10789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71A2E"/>
                </a:solidFill>
                <a:latin typeface="맑은 고딕"/>
                <a:ea typeface="맑은 고딕"/>
              </a:rPr>
              <a:t>AI로 요구사항을 구체화하고, </a:t>
            </a:r>
            <a:r>
              <a:rPr sz="3300" b="1">
                <a:solidFill>
                  <a:srgbClr val="0C6D8C"/>
                </a:solidFill>
                <a:latin typeface="맑은 고딕"/>
                <a:ea typeface="맑은 고딕"/>
              </a:rPr>
              <a:t>적용 효과와 운영 품질</a:t>
            </a:r>
            <a:r>
              <a:rPr sz="3300" b="1">
                <a:solidFill>
                  <a:srgbClr val="171A2E"/>
                </a:solidFill>
                <a:latin typeface="맑은 고딕"/>
                <a:ea typeface="맑은 고딕"/>
              </a:rPr>
              <a:t>을 함께 검토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534924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5349240" cy="27432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00">
                <a:solidFill>
                  <a:srgbClr val="7C8299"/>
                </a:solidFill>
                <a:latin typeface="맑은 고딕"/>
                <a:ea typeface="맑은 고딕"/>
              </a:rPr>
              <a:t>지금까지 · 수행 경험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1">
                <a:solidFill>
                  <a:srgbClr val="171A2E"/>
                </a:solidFill>
                <a:latin typeface="맑은 고딕"/>
                <a:ea typeface="맑은 고딕"/>
              </a:rPr>
              <a:t>AI로 앞단을 구체화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483864"/>
            <a:ext cx="100584" cy="100584"/>
          </a:xfrm>
          <a:prstGeom prst="rect">
            <a:avLst/>
          </a:prstGeom>
          <a:solidFill>
            <a:srgbClr val="17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42900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PRD · 기능정의 · </a:t>
            </a:r>
            <a:r>
              <a:rPr sz="1450" b="1">
                <a:solidFill>
                  <a:srgbClr val="171A2E"/>
                </a:solidFill>
                <a:latin typeface="맑은 고딕"/>
                <a:ea typeface="맑은 고딕"/>
              </a:rPr>
              <a:t>프로토타입 제작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941064"/>
            <a:ext cx="100584" cy="100584"/>
          </a:xfrm>
          <a:prstGeom prst="rect">
            <a:avLst/>
          </a:prstGeom>
          <a:solidFill>
            <a:srgbClr val="17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88620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테스트 데이터를 연결한 </a:t>
            </a:r>
            <a:r>
              <a:rPr sz="1450" b="1">
                <a:solidFill>
                  <a:srgbClr val="171A2E"/>
                </a:solidFill>
                <a:latin typeface="맑은 고딕"/>
                <a:ea typeface="맑은 고딕"/>
              </a:rPr>
              <a:t>작동 프로토타입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4398264"/>
            <a:ext cx="100584" cy="100584"/>
          </a:xfrm>
          <a:prstGeom prst="rect">
            <a:avLst/>
          </a:prstGeom>
          <a:solidFill>
            <a:srgbClr val="17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34340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사내 운영 업무의 </a:t>
            </a:r>
            <a:r>
              <a:rPr sz="1450" b="1">
                <a:solidFill>
                  <a:srgbClr val="171A2E"/>
                </a:solidFill>
                <a:latin typeface="맑은 고딕"/>
                <a:ea typeface="맑은 고딕"/>
              </a:rPr>
              <a:t>도구화 ·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00">
                <a:solidFill>
                  <a:srgbClr val="0C6D8C"/>
                </a:solidFill>
                <a:latin typeface="맑은 고딕"/>
                <a:ea typeface="맑은 고딕"/>
              </a:rPr>
              <a:t>DAI · 서비스 적용 기준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1">
                <a:solidFill>
                  <a:srgbClr val="171A2E"/>
                </a:solidFill>
                <a:latin typeface="맑은 고딕"/>
                <a:ea typeface="맑은 고딕"/>
              </a:rPr>
              <a:t>정식 적용은 이렇게 판단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438144"/>
            <a:ext cx="118872" cy="118872"/>
          </a:xfrm>
          <a:prstGeom prst="roundRect">
            <a:avLst>
              <a:gd name="adj" fmla="val 10000"/>
            </a:avLst>
          </a:prstGeom>
          <a:noFill/>
          <a:ln w="25400">
            <a:solidFill>
              <a:srgbClr val="13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401568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어떤 </a:t>
            </a:r>
            <a:r>
              <a:rPr sz="1450" b="1">
                <a:solidFill>
                  <a:srgbClr val="171A2E"/>
                </a:solidFill>
                <a:latin typeface="맑은 고딕"/>
                <a:ea typeface="맑은 고딕"/>
              </a:rPr>
              <a:t>사용자·운영 문제</a:t>
            </a: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를 개선하는가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822192"/>
            <a:ext cx="118872" cy="118872"/>
          </a:xfrm>
          <a:prstGeom prst="roundRect">
            <a:avLst>
              <a:gd name="adj" fmla="val 10000"/>
            </a:avLst>
          </a:prstGeom>
          <a:noFill/>
          <a:ln w="25400">
            <a:solidFill>
              <a:srgbClr val="13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785616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결과의 </a:t>
            </a:r>
            <a:r>
              <a:rPr sz="1450" b="1">
                <a:solidFill>
                  <a:srgbClr val="171A2E"/>
                </a:solidFill>
                <a:latin typeface="맑은 고딕"/>
                <a:ea typeface="맑은 고딕"/>
              </a:rPr>
              <a:t>오류·누락</a:t>
            </a: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을 어떻게 확인하는가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206240"/>
            <a:ext cx="118872" cy="118872"/>
          </a:xfrm>
          <a:prstGeom prst="roundRect">
            <a:avLst>
              <a:gd name="adj" fmla="val 10000"/>
            </a:avLst>
          </a:prstGeom>
          <a:noFill/>
          <a:ln w="25400">
            <a:solidFill>
              <a:srgbClr val="13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169664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어떤 상황에서 </a:t>
            </a:r>
            <a:r>
              <a:rPr sz="1450" b="1">
                <a:solidFill>
                  <a:srgbClr val="171A2E"/>
                </a:solidFill>
                <a:latin typeface="맑은 고딕"/>
                <a:ea typeface="맑은 고딕"/>
              </a:rPr>
              <a:t>사람이 검토</a:t>
            </a: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하는가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90288"/>
            <a:ext cx="118872" cy="118872"/>
          </a:xfrm>
          <a:prstGeom prst="roundRect">
            <a:avLst>
              <a:gd name="adj" fmla="val 10000"/>
            </a:avLst>
          </a:prstGeom>
          <a:noFill/>
          <a:ln w="25400">
            <a:solidFill>
              <a:srgbClr val="13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55371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71A2E"/>
                </a:solidFill>
                <a:latin typeface="맑은 고딕"/>
                <a:ea typeface="맑은 고딕"/>
              </a:rPr>
              <a:t>데이터·연동·보안·운영 비용</a:t>
            </a:r>
            <a:r>
              <a:rPr sz="1450" b="0">
                <a:solidFill>
                  <a:srgbClr val="3A3F57"/>
                </a:solidFill>
                <a:latin typeface="맑은 고딕"/>
                <a:ea typeface="맑은 고딕"/>
              </a:rPr>
              <a:t>을 감당할 수 있는가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120640"/>
            <a:ext cx="10789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13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5120640"/>
            <a:ext cx="64008" cy="914400"/>
          </a:xfrm>
          <a:prstGeom prst="rect">
            <a:avLst/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230368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C6D8C"/>
                </a:solidFill>
                <a:latin typeface="맑은 고딕"/>
                <a:ea typeface="맑은 고딕"/>
              </a:rPr>
              <a:t>적용 예시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230368"/>
            <a:ext cx="8961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A2E"/>
                </a:solidFill>
                <a:latin typeface="맑은 고딕"/>
                <a:ea typeface="맑은 고딕"/>
              </a:rPr>
              <a:t>정보 요약 기능이라면 — </a:t>
            </a:r>
            <a:r>
              <a:rPr sz="1600" b="1">
                <a:solidFill>
                  <a:srgbClr val="0C6D8C"/>
                </a:solidFill>
                <a:latin typeface="맑은 고딕"/>
                <a:ea typeface="맑은 고딕"/>
              </a:rPr>
              <a:t>처리시간</a:t>
            </a:r>
            <a:r>
              <a:rPr sz="1600" b="1">
                <a:solidFill>
                  <a:srgbClr val="171A2E"/>
                </a:solidFill>
                <a:latin typeface="맑은 고딕"/>
                <a:ea typeface="맑은 고딕"/>
              </a:rPr>
              <a:t>과 </a:t>
            </a:r>
            <a:r>
              <a:rPr sz="1600" b="1">
                <a:solidFill>
                  <a:srgbClr val="0C6D8C"/>
                </a:solidFill>
                <a:latin typeface="맑은 고딕"/>
                <a:ea typeface="맑은 고딕"/>
              </a:rPr>
              <a:t>중요 정보 누락 여부</a:t>
            </a:r>
            <a:r>
              <a:rPr sz="1600" b="1">
                <a:solidFill>
                  <a:srgbClr val="171A2E"/>
                </a:solidFill>
                <a:latin typeface="맑은 고딕"/>
                <a:ea typeface="맑은 고딕"/>
              </a:rPr>
              <a:t>를 함께 평가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7C8299"/>
                </a:solidFill>
                <a:latin typeface="맑은 고딕"/>
                <a:ea typeface="맑은 고딕"/>
              </a:rPr>
              <a:t>향후 접근법입니다. 실제 의료 AI 프로젝트 성과가 아닙니다. 임상·규제 판단은 관련 전문가와 협업합니다.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382512"/>
            <a:ext cx="8778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299"/>
                </a:solidFill>
                <a:latin typeface="맑은 고딕"/>
                <a:ea typeface="맑은 고딕"/>
              </a:rPr>
              <a:t>AI 도구의 실행 경험과, 정식 서비스의 검증·운영 기준을 구분해서 다룹니다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38251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7C8299"/>
                </a:solidFill>
                <a:latin typeface="맑은 고딕"/>
                <a:ea typeface="맑은 고딕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4572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9AEC2"/>
                </a:solidFill>
                <a:latin typeface="맑은 고딕"/>
                <a:ea typeface="맑은 고딕"/>
              </a:rPr>
              <a:t>DAI · 정치성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20">
                <a:solidFill>
                  <a:srgbClr val="1391B8"/>
                </a:solidFill>
                <a:latin typeface="맑은 고딕"/>
                <a:ea typeface="맑은 고딕"/>
              </a:rPr>
              <a:t>DAI 기여 · 단계별 접근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32104"/>
            <a:ext cx="1737360" cy="0"/>
          </a:xfrm>
          <a:prstGeom prst="bentConnector3">
            <a:avLst/>
          </a:prstGeom>
          <a:ln w="25400">
            <a:solidFill>
              <a:srgbClr val="1391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32688"/>
            <a:ext cx="10789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71A2E"/>
                </a:solidFill>
                <a:latin typeface="맑은 고딕"/>
                <a:ea typeface="맑은 고딕"/>
              </a:rPr>
              <a:t>사업 목표와 실행 조건에 따라 </a:t>
            </a:r>
            <a:r>
              <a:rPr sz="3300" b="1">
                <a:solidFill>
                  <a:srgbClr val="0C6D8C"/>
                </a:solidFill>
                <a:latin typeface="맑은 고딕"/>
                <a:ea typeface="맑은 고딕"/>
              </a:rPr>
              <a:t>검증하고 확장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24912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A2E"/>
                </a:solidFill>
                <a:latin typeface="맑은 고딕"/>
                <a:ea typeface="맑은 고딕"/>
              </a:rPr>
              <a:t>사업 · 현장 이해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01568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391B8"/>
                </a:solidFill>
                <a:latin typeface="맑은 고딕"/>
                <a:ea typeface="맑은 고딕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401568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3F57"/>
                </a:solidFill>
                <a:latin typeface="맑은 고딕"/>
                <a:ea typeface="맑은 고딕"/>
              </a:rPr>
              <a:t>실제 사용자·도입 결정자·비용 부담 주체는 누구인가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391B8"/>
                </a:solidFill>
                <a:latin typeface="맑은 고딕"/>
                <a:ea typeface="맑은 고딕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02336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3F57"/>
                </a:solidFill>
                <a:latin typeface="맑은 고딕"/>
                <a:ea typeface="맑은 고딕"/>
              </a:rPr>
              <a:t>기존 사업·데이터·계약·운영 조건은 무엇인가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681728"/>
            <a:ext cx="2423160" cy="0"/>
          </a:xfrm>
          <a:prstGeom prst="bentConnector3">
            <a:avLst/>
          </a:prstGeom>
          <a:ln w="127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475488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60">
                <a:solidFill>
                  <a:srgbClr val="7C8299"/>
                </a:solidFill>
                <a:latin typeface="맑은 고딕"/>
                <a:ea typeface="맑은 고딕"/>
              </a:rPr>
              <a:t>판단 결과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1">
                <a:solidFill>
                  <a:srgbClr val="0C6D8C"/>
                </a:solidFill>
                <a:latin typeface="맑은 고딕"/>
                <a:ea typeface="맑은 고딕"/>
              </a:rPr>
              <a:t>해결할 문제와 기대 성과 합의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46120" y="2148840"/>
            <a:ext cx="0" cy="2286000"/>
          </a:xfrm>
          <a:prstGeom prst="bentConnector3">
            <a:avLst/>
          </a:prstGeom>
          <a:ln w="127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83280" y="21488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724912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A2E"/>
                </a:solidFill>
                <a:latin typeface="맑은 고딕"/>
                <a:ea typeface="맑은 고딕"/>
              </a:rPr>
              <a:t>우선 과제 선정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401568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391B8"/>
                </a:solidFill>
                <a:latin typeface="맑은 고딕"/>
                <a:ea typeface="맑은 고딕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401568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3F57"/>
                </a:solidFill>
                <a:latin typeface="맑은 고딕"/>
                <a:ea typeface="맑은 고딕"/>
              </a:rPr>
              <a:t>고객 영향과 사업 효과는 어느 쪽이 큰가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0233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391B8"/>
                </a:solidFill>
                <a:latin typeface="맑은 고딕"/>
                <a:ea typeface="맑은 고딕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402336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3F57"/>
                </a:solidFill>
                <a:latin typeface="맑은 고딕"/>
                <a:ea typeface="맑은 고딕"/>
              </a:rPr>
              <a:t>데이터·개발·운영 가능성은 충분한가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83280" y="4681728"/>
            <a:ext cx="2423160" cy="0"/>
          </a:xfrm>
          <a:prstGeom prst="bentConnector3">
            <a:avLst/>
          </a:prstGeom>
          <a:ln w="127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83280" y="475488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60">
                <a:solidFill>
                  <a:srgbClr val="7C8299"/>
                </a:solidFill>
                <a:latin typeface="맑은 고딕"/>
                <a:ea typeface="맑은 고딕"/>
              </a:rPr>
              <a:t>판단 결과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1">
                <a:solidFill>
                  <a:srgbClr val="0C6D8C"/>
                </a:solidFill>
                <a:latin typeface="맑은 고딕"/>
                <a:ea typeface="맑은 고딕"/>
              </a:rPr>
              <a:t>우선순위와 개발 범위 제안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0" y="2148840"/>
            <a:ext cx="0" cy="2286000"/>
          </a:xfrm>
          <a:prstGeom prst="bentConnector3">
            <a:avLst/>
          </a:prstGeom>
          <a:ln w="127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080760" y="21488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724912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A2E"/>
                </a:solidFill>
                <a:latin typeface="맑은 고딕"/>
                <a:ea typeface="맑은 고딕"/>
              </a:rPr>
              <a:t>불확실성 검증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401568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391B8"/>
                </a:solidFill>
                <a:latin typeface="맑은 고딕"/>
                <a:ea typeface="맑은 고딕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401568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3F57"/>
                </a:solidFill>
                <a:latin typeface="맑은 고딕"/>
                <a:ea typeface="맑은 고딕"/>
              </a:rPr>
              <a:t>수요·연동·AI 품질·운영 중 핵심 불확실성은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0233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391B8"/>
                </a:solidFill>
                <a:latin typeface="맑은 고딕"/>
                <a:ea typeface="맑은 고딕"/>
              </a:rPr>
              <a:t>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02336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3F57"/>
                </a:solidFill>
                <a:latin typeface="맑은 고딕"/>
                <a:ea typeface="맑은 고딕"/>
              </a:rPr>
              <a:t>인터뷰·프로토타입·기술 검토·실증 중 무엇이 적합한가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0760" y="4681728"/>
            <a:ext cx="2423160" cy="0"/>
          </a:xfrm>
          <a:prstGeom prst="bentConnector3">
            <a:avLst/>
          </a:prstGeom>
          <a:ln w="127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80760" y="475488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60">
                <a:solidFill>
                  <a:srgbClr val="7C8299"/>
                </a:solidFill>
                <a:latin typeface="맑은 고딕"/>
                <a:ea typeface="맑은 고딕"/>
              </a:rPr>
              <a:t>판단 결과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1">
                <a:solidFill>
                  <a:srgbClr val="0C6D8C"/>
                </a:solidFill>
                <a:latin typeface="맑은 고딕"/>
                <a:ea typeface="맑은 고딕"/>
              </a:rPr>
              <a:t>진행 · 범위 수정 · 보류 판단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41080" y="2148840"/>
            <a:ext cx="0" cy="2286000"/>
          </a:xfrm>
          <a:prstGeom prst="bentConnector3">
            <a:avLst/>
          </a:prstGeom>
          <a:ln w="127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778240" y="21488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2724912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A2E"/>
                </a:solidFill>
                <a:latin typeface="맑은 고딕"/>
                <a:ea typeface="맑은 고딕"/>
              </a:rPr>
              <a:t>구축 · 개선 · 확장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3401568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391B8"/>
                </a:solidFill>
                <a:latin typeface="맑은 고딕"/>
                <a:ea typeface="맑은 고딕"/>
              </a:rPr>
              <a:t>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34272" y="3401568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3F57"/>
                </a:solidFill>
                <a:latin typeface="맑은 고딕"/>
                <a:ea typeface="맑은 고딕"/>
              </a:rPr>
              <a:t>실제 이용과 운영 결과는 어떠한가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40233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391B8"/>
                </a:solidFill>
                <a:latin typeface="맑은 고딕"/>
                <a:ea typeface="맑은 고딕"/>
              </a:rPr>
              <a:t>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4272" y="402336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3F57"/>
                </a:solidFill>
                <a:latin typeface="맑은 고딕"/>
                <a:ea typeface="맑은 고딕"/>
              </a:rPr>
              <a:t>공통 활용 가능한 기능·운영 기준은 무엇인가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778240" y="4681728"/>
            <a:ext cx="2423160" cy="0"/>
          </a:xfrm>
          <a:prstGeom prst="bentConnector3">
            <a:avLst/>
          </a:prstGeom>
          <a:ln w="12700">
            <a:solidFill>
              <a:srgbClr val="E5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778240" y="4754880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60">
                <a:solidFill>
                  <a:srgbClr val="7C8299"/>
                </a:solidFill>
                <a:latin typeface="맑은 고딕"/>
                <a:ea typeface="맑은 고딕"/>
              </a:rPr>
              <a:t>판단 결과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1">
                <a:solidFill>
                  <a:srgbClr val="0C6D8C"/>
                </a:solidFill>
                <a:latin typeface="맑은 고딕"/>
                <a:ea typeface="맑은 고딕"/>
              </a:rPr>
              <a:t>보완 · 확대 여부 결정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546811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8299"/>
                </a:solidFill>
                <a:latin typeface="맑은 고딕"/>
                <a:ea typeface="맑은 고딕"/>
              </a:rPr>
              <a:t>←  검증 결과에 따라 앞 단계로 되돌아갈 수 있고, 이미 검증된 부분은 이어받습니다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5806440"/>
            <a:ext cx="10789920" cy="4572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71A2E"/>
                </a:solidFill>
                <a:latin typeface="맑은 고딕"/>
                <a:ea typeface="맑은 고딕"/>
              </a:rPr>
              <a:t>   경영진에게는 </a:t>
            </a:r>
            <a:r>
              <a:rPr sz="1500" b="1">
                <a:solidFill>
                  <a:srgbClr val="0C6D8C"/>
                </a:solidFill>
                <a:latin typeface="맑은 고딕"/>
                <a:ea typeface="맑은 고딕"/>
              </a:rPr>
              <a:t>선택의 근거와 추천안</a:t>
            </a:r>
            <a:r>
              <a:rPr sz="1500" b="0">
                <a:solidFill>
                  <a:srgbClr val="171A2E"/>
                </a:solidFill>
                <a:latin typeface="맑은 고딕"/>
                <a:ea typeface="맑은 고딕"/>
              </a:rPr>
              <a:t>을, 실행 조직에는 </a:t>
            </a:r>
            <a:r>
              <a:rPr sz="1500" b="1">
                <a:solidFill>
                  <a:srgbClr val="0C6D8C"/>
                </a:solidFill>
                <a:latin typeface="맑은 고딕"/>
                <a:ea typeface="맑은 고딕"/>
              </a:rPr>
              <a:t>명확한 범위와 판단 기준</a:t>
            </a:r>
            <a:r>
              <a:rPr sz="1500" b="0">
                <a:solidFill>
                  <a:srgbClr val="171A2E"/>
                </a:solidFill>
                <a:latin typeface="맑은 고딕"/>
                <a:ea typeface="맑은 고딕"/>
              </a:rPr>
              <a:t>을 제시하겠습니다.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5806440"/>
            <a:ext cx="64008" cy="457200"/>
          </a:xfrm>
          <a:prstGeom prst="rect">
            <a:avLst/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6382512"/>
            <a:ext cx="8778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299"/>
                </a:solidFill>
                <a:latin typeface="맑은 고딕"/>
                <a:ea typeface="맑은 고딕"/>
              </a:rPr>
              <a:t>확정 일정이나 청사진이 아니라, 판단하고 확장하는 접근법 · 특정 기간·매출·출시 약속은 두지 않음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638251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7C8299"/>
                </a:solidFill>
                <a:latin typeface="맑은 고딕"/>
                <a:ea typeface="맑은 고딕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4572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9AEC2"/>
                </a:solidFill>
                <a:latin typeface="맑은 고딕"/>
                <a:ea typeface="맑은 고딕"/>
              </a:rPr>
              <a:t>DAI · 정치성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20">
                <a:solidFill>
                  <a:srgbClr val="1391B8"/>
                </a:solidFill>
                <a:latin typeface="맑은 고딕"/>
                <a:ea typeface="맑은 고딕"/>
              </a:rPr>
              <a:t>DAI 기여 · 첫 검증 가설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832104"/>
            <a:ext cx="1737360" cy="0"/>
          </a:xfrm>
          <a:prstGeom prst="bentConnector3">
            <a:avLst/>
          </a:prstGeom>
          <a:ln w="25400">
            <a:solidFill>
              <a:srgbClr val="1391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932688"/>
            <a:ext cx="10789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71A2E"/>
                </a:solidFill>
                <a:latin typeface="맑은 고딕"/>
                <a:ea typeface="맑은 고딕"/>
              </a:rPr>
              <a:t>먼저 증명할 </a:t>
            </a:r>
            <a:r>
              <a:rPr sz="3300" b="1">
                <a:solidFill>
                  <a:srgbClr val="0C6D8C"/>
                </a:solidFill>
                <a:latin typeface="맑은 고딕"/>
                <a:ea typeface="맑은 고딕"/>
              </a:rPr>
              <a:t>두 가지 실행 가설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C8299"/>
                </a:solidFill>
                <a:latin typeface="맑은 고딕"/>
                <a:ea typeface="맑은 고딕"/>
              </a:rPr>
              <a:t>공개된 그룹 자산과 제 경험에서 좁힌 </a:t>
            </a:r>
            <a:r>
              <a:rPr sz="1400" b="1">
                <a:solidFill>
                  <a:srgbClr val="0C6D8C"/>
                </a:solidFill>
                <a:latin typeface="맑은 고딕"/>
                <a:ea typeface="맑은 고딕"/>
              </a:rPr>
              <a:t>가설</a:t>
            </a:r>
            <a:r>
              <a:rPr sz="1400" b="0">
                <a:solidFill>
                  <a:srgbClr val="7C8299"/>
                </a:solidFill>
                <a:latin typeface="맑은 고딕"/>
                <a:ea typeface="맑은 고딕"/>
              </a:rPr>
              <a:t>입니다. 확정 계획이 아니라, 입사 후 함께 검증할 출발점으로 제안합니다.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5330952" cy="3063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5330952" cy="841248"/>
          </a:xfrm>
          <a:prstGeom prst="rect">
            <a:avLst/>
          </a:prstGeom>
          <a:solidFill>
            <a:srgbClr val="1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185416"/>
            <a:ext cx="48737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40">
                <a:solidFill>
                  <a:srgbClr val="5FD0EE"/>
                </a:solidFill>
                <a:latin typeface="맑은 고딕"/>
                <a:ea typeface="맑은 고딕"/>
              </a:rPr>
              <a:t>가설 A · 환자 경험 연결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맑은 고딕"/>
                <a:ea typeface="맑은 고딕"/>
              </a:rPr>
              <a:t>흩어진 모니터링·관리 접점을  하나의 환자 흐름으로 잇는다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026664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6D8C"/>
                </a:solidFill>
                <a:latin typeface="맑은 고딕"/>
                <a:ea typeface="맑은 고딕"/>
              </a:rPr>
              <a:t>가설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3026664"/>
            <a:ext cx="3867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3F57"/>
                </a:solidFill>
                <a:latin typeface="맑은 고딕"/>
                <a:ea typeface="맑은 고딕"/>
              </a:rPr>
              <a:t>측정·관리 데이터가 </a:t>
            </a:r>
            <a:r>
              <a:rPr sz="1400" b="1">
                <a:solidFill>
                  <a:srgbClr val="171A2E"/>
                </a:solidFill>
                <a:latin typeface="맑은 고딕"/>
                <a:ea typeface="맑은 고딕"/>
              </a:rPr>
              <a:t>한 흐름으로 이어지면</a:t>
            </a:r>
            <a:r>
              <a:rPr sz="1400" b="0">
                <a:solidFill>
                  <a:srgbClr val="3A3F57"/>
                </a:solidFill>
                <a:latin typeface="맑은 고딕"/>
                <a:ea typeface="맑은 고딕"/>
              </a:rPr>
              <a:t> 측정 지속·다음 행동 연결이 좋아진다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538728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6D8C"/>
                </a:solidFill>
                <a:latin typeface="맑은 고딕"/>
                <a:ea typeface="맑은 고딕"/>
              </a:rPr>
              <a:t>근거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3538728"/>
            <a:ext cx="3867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3F57"/>
                </a:solidFill>
                <a:latin typeface="맑은 고딕"/>
                <a:ea typeface="맑은 고딕"/>
              </a:rPr>
              <a:t>그룹은 모니터링·관리 접점(하이카디·케어센스에어 등)을 이미 확보 — </a:t>
            </a:r>
            <a:r>
              <a:rPr sz="1400" b="1">
                <a:solidFill>
                  <a:srgbClr val="171A2E"/>
                </a:solidFill>
                <a:latin typeface="맑은 고딕"/>
                <a:ea typeface="맑은 고딕"/>
              </a:rPr>
              <a:t>‘잇는 경험’은 빈자리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050792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6D8C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4050792"/>
            <a:ext cx="3867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3F57"/>
                </a:solidFill>
                <a:latin typeface="맑은 고딕"/>
                <a:ea typeface="맑은 고딕"/>
              </a:rPr>
              <a:t>소수 사용자 대상 </a:t>
            </a:r>
            <a:r>
              <a:rPr sz="1400" b="1">
                <a:solidFill>
                  <a:srgbClr val="171A2E"/>
                </a:solidFill>
                <a:latin typeface="맑은 고딕"/>
                <a:ea typeface="맑은 고딕"/>
              </a:rPr>
              <a:t>얇은 연결 슬라이스</a:t>
            </a:r>
            <a:r>
              <a:rPr sz="1400" b="0">
                <a:solidFill>
                  <a:srgbClr val="3A3F57"/>
                </a:solidFill>
                <a:latin typeface="맑은 고딕"/>
                <a:ea typeface="맑은 고딕"/>
              </a:rPr>
              <a:t> 프로토타입으로 실사용·이탈 관측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" y="4544568"/>
            <a:ext cx="5221224" cy="521207"/>
          </a:xfrm>
          <a:prstGeom prst="rect">
            <a:avLst/>
          </a:prstGeom>
          <a:solidFill>
            <a:srgbClr val="E7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617720"/>
            <a:ext cx="868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6D8C"/>
                </a:solidFill>
                <a:latin typeface="맑은 고딕"/>
                <a:ea typeface="맑은 고딕"/>
              </a:rPr>
              <a:t>성공·중단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4608576"/>
            <a:ext cx="3913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C6D8C"/>
                </a:solidFill>
                <a:latin typeface="맑은 고딕"/>
                <a:ea typeface="맑은 고딕"/>
              </a:rPr>
              <a:t>실사용(채택) + 안전 인시던트 0 + 동의·규제 확인 통과</a:t>
            </a:r>
            <a:r>
              <a:rPr sz="1350" b="0">
                <a:solidFill>
                  <a:srgbClr val="171A2E"/>
                </a:solidFill>
                <a:latin typeface="맑은 고딕"/>
                <a:ea typeface="맑은 고딕"/>
              </a:rPr>
              <a:t> → 확장 / 미달 → 축소·보류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2057400"/>
            <a:ext cx="5330952" cy="3063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2057400"/>
            <a:ext cx="5330952" cy="841248"/>
          </a:xfrm>
          <a:prstGeom prst="rect">
            <a:avLst/>
          </a:prstGeom>
          <a:solidFill>
            <a:srgbClr val="1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185416"/>
            <a:ext cx="48737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40">
                <a:solidFill>
                  <a:srgbClr val="5FD0EE"/>
                </a:solidFill>
                <a:latin typeface="맑은 고딕"/>
                <a:ea typeface="맑은 고딕"/>
              </a:rPr>
              <a:t>가설 B · 접근성 (원무 경험 이식)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맑은 고딕"/>
                <a:ea typeface="맑은 고딕"/>
              </a:rPr>
              <a:t>예약~동의~결과 확인의  마찰을 줄여 등록·재사용을 높인다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26664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6D8C"/>
                </a:solidFill>
                <a:latin typeface="맑은 고딕"/>
                <a:ea typeface="맑은 고딕"/>
              </a:rPr>
              <a:t>가설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3026664"/>
            <a:ext cx="3867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3F57"/>
                </a:solidFill>
                <a:latin typeface="맑은 고딕"/>
                <a:ea typeface="맑은 고딕"/>
              </a:rPr>
              <a:t>등록·동의·조회의 </a:t>
            </a:r>
            <a:r>
              <a:rPr sz="1400" b="1">
                <a:solidFill>
                  <a:srgbClr val="171A2E"/>
                </a:solidFill>
                <a:latin typeface="맑은 고딕"/>
                <a:ea typeface="맑은 고딕"/>
              </a:rPr>
              <a:t>마찰을 줄이면</a:t>
            </a:r>
            <a:r>
              <a:rPr sz="1400" b="0">
                <a:solidFill>
                  <a:srgbClr val="3A3F57"/>
                </a:solidFill>
                <a:latin typeface="맑은 고딕"/>
                <a:ea typeface="맑은 고딕"/>
              </a:rPr>
              <a:t> 디지털 헬스 접점의 등록·재사용률이 오른다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38728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6D8C"/>
                </a:solidFill>
                <a:latin typeface="맑은 고딕"/>
                <a:ea typeface="맑은 고딕"/>
              </a:rPr>
              <a:t>근거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3538728"/>
            <a:ext cx="3867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3F57"/>
                </a:solidFill>
                <a:latin typeface="맑은 고딕"/>
                <a:ea typeface="맑은 고딕"/>
              </a:rPr>
              <a:t>EMR 연동 원무를 </a:t>
            </a:r>
            <a:r>
              <a:rPr sz="1400" b="1">
                <a:solidFill>
                  <a:srgbClr val="171A2E"/>
                </a:solidFill>
                <a:latin typeface="맑은 고딕"/>
                <a:ea typeface="맑은 고딕"/>
              </a:rPr>
              <a:t>서비스화한 제 경험</a:t>
            </a:r>
            <a:r>
              <a:rPr sz="1400" b="0">
                <a:solidFill>
                  <a:srgbClr val="3A3F57"/>
                </a:solidFill>
                <a:latin typeface="맑은 고딕"/>
                <a:ea typeface="맑은 고딕"/>
              </a:rPr>
              <a:t>이 그대로 붙는 지점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50792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6D8C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3488" y="4050792"/>
            <a:ext cx="3867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3F57"/>
                </a:solidFill>
                <a:latin typeface="맑은 고딕"/>
                <a:ea typeface="맑은 고딕"/>
              </a:rPr>
              <a:t>한 개 접점에서 </a:t>
            </a:r>
            <a:r>
              <a:rPr sz="1400" b="1">
                <a:solidFill>
                  <a:srgbClr val="171A2E"/>
                </a:solidFill>
                <a:latin typeface="맑은 고딕"/>
                <a:ea typeface="맑은 고딕"/>
              </a:rPr>
              <a:t>등록·동의·조회 플로우 개선안</a:t>
            </a:r>
            <a:r>
              <a:rPr sz="1400" b="0">
                <a:solidFill>
                  <a:srgbClr val="3A3F57"/>
                </a:solidFill>
                <a:latin typeface="맑은 고딕"/>
                <a:ea typeface="맑은 고딕"/>
              </a:rPr>
              <a:t>을 실증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4544568"/>
            <a:ext cx="5221224" cy="521207"/>
          </a:xfrm>
          <a:prstGeom prst="rect">
            <a:avLst/>
          </a:prstGeom>
          <a:solidFill>
            <a:srgbClr val="E7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617720"/>
            <a:ext cx="868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6D8C"/>
                </a:solidFill>
                <a:latin typeface="맑은 고딕"/>
                <a:ea typeface="맑은 고딕"/>
              </a:rPr>
              <a:t>성공·중단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3488" y="4608576"/>
            <a:ext cx="3913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C6D8C"/>
                </a:solidFill>
                <a:latin typeface="맑은 고딕"/>
                <a:ea typeface="맑은 고딕"/>
              </a:rPr>
              <a:t>등록 완료율·재사용 관측</a:t>
            </a:r>
            <a:r>
              <a:rPr sz="1350" b="0">
                <a:solidFill>
                  <a:srgbClr val="171A2E"/>
                </a:solidFill>
                <a:latin typeface="맑은 고딕"/>
                <a:ea typeface="맑은 고딕"/>
              </a:rPr>
              <a:t> → 공통화 가치가 확인되면 확대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257800"/>
            <a:ext cx="10817352" cy="713232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3A3F57"/>
                </a:solidFill>
                <a:latin typeface="맑은 고딕"/>
                <a:ea typeface="맑은 고딕"/>
              </a:rPr>
              <a:t>   가설은 </a:t>
            </a:r>
            <a:r>
              <a:rPr sz="1350" b="1">
                <a:solidFill>
                  <a:srgbClr val="171A2E"/>
                </a:solidFill>
                <a:latin typeface="맑은 고딕"/>
                <a:ea typeface="맑은 고딕"/>
              </a:rPr>
              <a:t>입사 후 초기 진단</a:t>
            </a:r>
            <a:r>
              <a:rPr sz="1350" b="0">
                <a:solidFill>
                  <a:srgbClr val="3A3F57"/>
                </a:solidFill>
                <a:latin typeface="맑은 고딕"/>
                <a:ea typeface="맑은 고딕"/>
              </a:rPr>
              <a:t>으로 갱신됩니다. 데이터 활용은 </a:t>
            </a:r>
            <a:r>
              <a:rPr sz="1350" b="1">
                <a:solidFill>
                  <a:srgbClr val="171A2E"/>
                </a:solidFill>
                <a:latin typeface="맑은 고딕"/>
                <a:ea typeface="맑은 고딕"/>
              </a:rPr>
              <a:t>환자 동의·규제 범위 확인이 전제</a:t>
            </a:r>
            <a:r>
              <a:rPr sz="1350" b="0">
                <a:solidFill>
                  <a:srgbClr val="3A3F57"/>
                </a:solidFill>
                <a:latin typeface="맑은 고딕"/>
                <a:ea typeface="맑은 고딕"/>
              </a:rPr>
              <a:t>이며, 임상·규제 판단은 전문가와 함께합니다. 제품·조직·데이터 통합은 내부 상황을 파악한 뒤 확정하겠습니다.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5257800"/>
            <a:ext cx="64008" cy="713232"/>
          </a:xfrm>
          <a:prstGeom prst="rect">
            <a:avLst/>
          </a:prstGeom>
          <a:solidFill>
            <a:srgbClr val="A9A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6382512"/>
            <a:ext cx="8778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299"/>
                </a:solidFill>
                <a:latin typeface="맑은 고딕"/>
                <a:ea typeface="맑은 고딕"/>
              </a:rPr>
              <a:t>공개 자산 기반의 검증 가설(확정 아님) · 특정 환자 데이터 사용 권한을 이미 확보했다고 가정하지 않음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38251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7C8299"/>
                </a:solidFill>
                <a:latin typeface="맑은 고딕"/>
                <a:ea typeface="맑은 고딕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EB8D6"/>
                </a:solidFill>
                <a:latin typeface="맑은 고딕"/>
                <a:ea typeface="맑은 고딕"/>
              </a:rPr>
              <a:t>●  동아쏘시오그룹 · DAI   |   AI 헬스케어 플랫폼 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20">
                <a:solidFill>
                  <a:srgbClr val="5FD0EE"/>
                </a:solidFill>
                <a:latin typeface="맑은 고딕"/>
                <a:ea typeface="맑은 고딕"/>
              </a:rPr>
              <a:t>CLOSING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883664"/>
            <a:ext cx="1737360" cy="0"/>
          </a:xfrm>
          <a:prstGeom prst="bentConnector3">
            <a:avLst/>
          </a:prstGeom>
          <a:ln w="25400">
            <a:solidFill>
              <a:srgbClr val="2F7F9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201168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DAI의 사업 과제를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5FD0EE"/>
                </a:solidFill>
                <a:latin typeface="맑은 고딕"/>
                <a:ea typeface="맑은 고딕"/>
              </a:rPr>
              <a:t>제품과 운영</a:t>
            </a:r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으로 구체화하겠습니다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977639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50">
                <a:solidFill>
                  <a:srgbClr val="5FD0EE"/>
                </a:solidFill>
                <a:latin typeface="맑은 고딕"/>
                <a:ea typeface="맑은 고딕"/>
              </a:rPr>
              <a:t>01 · 전환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434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7EBF6"/>
                </a:solidFill>
                <a:latin typeface="맑은 고딕"/>
                <a:ea typeface="맑은 고딕"/>
              </a:rPr>
              <a:t>사용자 행동과 사업 전환을 함께 본 경험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42232" y="3977639"/>
            <a:ext cx="0" cy="868680"/>
          </a:xfrm>
          <a:prstGeom prst="bentConnector3">
            <a:avLst/>
          </a:prstGeom>
          <a:ln w="12700">
            <a:solidFill>
              <a:srgbClr val="333B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25112" y="3977639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50">
                <a:solidFill>
                  <a:srgbClr val="5FD0EE"/>
                </a:solidFill>
                <a:latin typeface="맑은 고딕"/>
                <a:ea typeface="맑은 고딕"/>
              </a:rPr>
              <a:t>02 · 연동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43434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7EBF6"/>
                </a:solidFill>
                <a:latin typeface="맑은 고딕"/>
                <a:ea typeface="맑은 고딕"/>
              </a:rPr>
              <a:t>현장 업무와 외부 시스템을 연결한 경험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54112" y="3977639"/>
            <a:ext cx="0" cy="868680"/>
          </a:xfrm>
          <a:prstGeom prst="bentConnector3">
            <a:avLst/>
          </a:prstGeom>
          <a:ln w="12700">
            <a:solidFill>
              <a:srgbClr val="333B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36992" y="3977639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50">
                <a:solidFill>
                  <a:srgbClr val="5FD0EE"/>
                </a:solidFill>
                <a:latin typeface="맑은 고딕"/>
                <a:ea typeface="맑은 고딕"/>
              </a:rPr>
              <a:t>03 ·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43434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7EBF6"/>
                </a:solidFill>
                <a:latin typeface="맑은 고딕"/>
                <a:ea typeface="맑은 고딕"/>
              </a:rPr>
              <a:t>우선순위를 정하고 여러 팀의 실행을 이끈 경험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34924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7CEE4"/>
                </a:solidFill>
                <a:latin typeface="맑은 고딕"/>
                <a:ea typeface="맑은 고딕"/>
              </a:rPr>
              <a:t>필요한 전문성과 협업하며, </a:t>
            </a: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판단의 근거와 실행 결과를 끝까지 설명</a:t>
            </a:r>
            <a:r>
              <a:rPr sz="2200" b="0">
                <a:solidFill>
                  <a:srgbClr val="C7CEE4"/>
                </a:solidFill>
                <a:latin typeface="맑은 고딕"/>
                <a:ea typeface="맑은 고딕"/>
              </a:rPr>
              <a:t>하는 팀장이 되겠습니다.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82512"/>
            <a:ext cx="8778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F89AB"/>
                </a:solidFill>
                <a:latin typeface="맑은 고딕"/>
                <a:ea typeface="맑은 고딕"/>
              </a:rPr>
              <a:t>감사합니다. 질문 부탁드립니다.  ·  정치성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38251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7F89AB"/>
                </a:solidFill>
                <a:latin typeface="맑은 고딕"/>
                <a:ea typeface="맑은 고딕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