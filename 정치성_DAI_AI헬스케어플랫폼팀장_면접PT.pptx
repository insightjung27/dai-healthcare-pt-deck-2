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 지원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면접 발표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229514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395728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맑은 고딕"/>
                <a:ea typeface="맑은 고딕"/>
              </a:rPr>
              <a:t>대표 프로젝트 성과와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5FD0EE"/>
                </a:solidFill>
                <a:latin typeface="맑은 고딕"/>
                <a:ea typeface="맑은 고딕"/>
              </a:rPr>
              <a:t>DAI 플랫폼 구축 기여 방안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7CEE4"/>
                </a:solidFill>
                <a:latin typeface="맑은 고딕"/>
                <a:ea typeface="맑은 고딕"/>
              </a:rPr>
              <a:t>AI 헬스케어 플랫폼 팀장 지원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800600"/>
            <a:ext cx="10789920" cy="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956048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  <a:ea typeface="맑은 고딕"/>
              </a:rPr>
              <a:t>정치성   </a:t>
            </a:r>
            <a:r>
              <a:rPr sz="1900" b="0">
                <a:solidFill>
                  <a:srgbClr val="9AA4C6"/>
                </a:solidFill>
                <a:latin typeface="맑은 고딕"/>
                <a:ea typeface="맑은 고딕"/>
              </a:rPr>
              <a:t>· 2026.09.16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40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A94B8"/>
                </a:solidFill>
                <a:latin typeface="맑은 고딕"/>
                <a:ea typeface="맑은 고딕"/>
              </a:rPr>
              <a:t>사용자와 현장의 문제를 제품과 운영의 개선으로 연결해 온 경험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2026 · 임원 면접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핵심 역량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복잡한 요구를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서비스 정책과 업무 흐름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으로 구체화하고, 팀의 실행으로 연결해 왔습니다.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경험 · 도메인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사용자가 완료할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현장의 처리 업무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95560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spc="50">
                <a:solidFill>
                  <a:srgbClr val="7C8299"/>
                </a:solidFill>
                <a:latin typeface="맑은 고딕"/>
                <a:ea typeface="맑은 고딕"/>
              </a:rPr>
              <a:t>무엇을 증명하나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715768"/>
            <a:ext cx="10789920" cy="0"/>
          </a:xfrm>
          <a:prstGeom prst="bentConnector3">
            <a:avLst/>
          </a:prstGeom>
          <a:ln w="20320">
            <a:solidFill>
              <a:srgbClr val="171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52928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굿리치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보험 · 인슈어테크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52928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보험분석을 위한 상담신청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52928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상담 활용 정보의 품질 확인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95560" y="3035808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전환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602736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602736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THK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장기요양 · 돌봄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602736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수급자 자격·구매 정보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02736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주문·직배송의 확인과 예외 처리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3785616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운영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352544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352544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더베스트페이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병원 원무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352544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예약·조회·수납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352544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EMR 연동과 기관별 요구 조율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5560" y="4535424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연동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102352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102352"/>
            <a:ext cx="24688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코나아이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7C8299"/>
                </a:solidFill>
                <a:latin typeface="맑은 고딕"/>
                <a:ea typeface="맑은 고딕"/>
              </a:rPr>
              <a:t>지역화폐 · 결제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102352"/>
            <a:ext cx="28346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지역화폐·카드 이용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102352"/>
            <a:ext cx="3657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3개 팀 요청의 우선순위·실행 관리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95560" y="5285232"/>
            <a:ext cx="141732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조직 실행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5852160"/>
            <a:ext cx="107899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6016752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제품의 세부 내용을 이해하면서, 여러 조직의 실행을 함께 챙길 수 있습니다.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01 · 굿리치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보험분석 상담신청 페이지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전환율 20%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페이지 수정 전 대비, 해당 페이지의 상담신청 전환율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0" b="1">
                <a:solidFill>
                  <a:srgbClr val="0C6D8C"/>
                </a:solidFill>
                <a:latin typeface="맑은 고딕"/>
                <a:ea typeface="맑은 고딕"/>
              </a:rPr>
              <a:t>20</a:t>
            </a:r>
            <a:r>
              <a:rPr sz="7800" b="1">
                <a:solidFill>
                  <a:srgbClr val="7C8299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2651760"/>
            <a:ext cx="868680" cy="402336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CB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675887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보험분석 상담신청 페이지</a:t>
            </a:r>
            <a:r>
              <a:rPr sz="1450" b="0">
                <a:solidFill>
                  <a:srgbClr val="171A2E"/>
                </a:solidFill>
                <a:latin typeface="맑은 고딕"/>
                <a:ea typeface="맑은 고딕"/>
              </a:rPr>
              <a:t/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448056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455371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55371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상담신청 과정의 반복 확인 단계가 고객 부담·이탈 요인으로 작용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98348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505663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05663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반복 부담을 확인하고, 해당 확인 단계와 신청 흐름을 개선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3232" y="54864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555955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55955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수정 반영 후 해당 페이지 상담신청 전환율 기존 대비 20% 개선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3232" y="598932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6062472"/>
            <a:ext cx="960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함께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6062472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설계사 클레임 비율을 함께 점검 — 상담 활용 정보 품질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228600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신청 과정 개념도 · 실제 화면 아님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3560" y="26974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24728" y="28163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7C8299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24728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67728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223760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66760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622792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DEEF0"/>
          </a:solidFill>
          <a:ln w="12700">
            <a:solidFill>
              <a:srgbClr val="F3C6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23A4A"/>
                </a:solidFill>
                <a:latin typeface="맑은 고딕"/>
                <a:ea typeface="맑은 고딕"/>
              </a:rPr>
              <a:t>반복 확인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5792" y="3374136"/>
            <a:ext cx="256032" cy="0"/>
          </a:xfrm>
          <a:prstGeom prst="bentConnector3">
            <a:avLst/>
          </a:prstGeom>
          <a:ln w="17780">
            <a:solidFill>
              <a:srgbClr val="A9AE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21824" y="3127248"/>
            <a:ext cx="1143000" cy="50292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이탈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4728" y="371246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23A4A"/>
                </a:solidFill>
                <a:latin typeface="맑은 고딕"/>
                <a:ea typeface="맑은 고딕"/>
              </a:rPr>
              <a:t>반복 확인 단계가 고객 부담을 키워 이탈로 이어짐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4297680"/>
            <a:ext cx="58521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24728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60">
                <a:solidFill>
                  <a:srgbClr val="0C6D8C"/>
                </a:solidFill>
                <a:latin typeface="맑은 고딕"/>
                <a:ea typeface="맑은 고딕"/>
              </a:rPr>
              <a:t>개선 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4416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▲ 20%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71A2E"/>
                </a:solidFill>
                <a:latin typeface="맑은 고딕"/>
                <a:ea typeface="맑은 고딕"/>
              </a:rPr>
              <a:t>분석 요청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424928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680960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확인 단계 간소화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281160" y="4983480"/>
            <a:ext cx="256032" cy="0"/>
          </a:xfrm>
          <a:prstGeom prst="bentConnector3">
            <a:avLst/>
          </a:prstGeom>
          <a:ln w="2032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537192" y="4736592"/>
            <a:ext cx="1600200" cy="502920"/>
          </a:xfrm>
          <a:prstGeom prst="roundRect">
            <a:avLst>
              <a:gd name="adj" fmla="val 10000"/>
            </a:avLst>
          </a:prstGeom>
          <a:solidFill>
            <a:srgbClr val="E7F4F9"/>
          </a:solidFill>
          <a:ln w="12700">
            <a:solidFill>
              <a:srgbClr val="A8D8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상담신청 완료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24728" y="5321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C6D8C"/>
                </a:solidFill>
                <a:latin typeface="맑은 고딕"/>
                <a:ea typeface="맑은 고딕"/>
              </a:rPr>
              <a:t>반복 확인 부담을 줄여 신청 완료 흐름을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전후 전환율 절대값은 미제공되어 표기하지 않음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02 · THK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직배송 확인 업무를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시스템으로 구조화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8132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— 일일 처리업무 약 6시간 → 약 2시간 · 고물량 제조사 적용 구간 기준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" y="2514600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2606040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개선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0604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재고 미보유 주문의 수기 확인과 제조사와의 개별 연락 · 주문 진행·예외 확인에 업무 집중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3355848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447288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본인 변경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447288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주문 상태와 처리 흐름을 정리하고, 담당 업무·예외 처리를 관리자 시스템에 반영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" y="4197096"/>
            <a:ext cx="457200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4288536"/>
            <a:ext cx="1143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88536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제조사별 운영 여건에 맞춰 적용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5129784"/>
            <a:ext cx="4572000" cy="914400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129784"/>
            <a:ext cx="54864" cy="914400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1371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약 30</a:t>
            </a:r>
            <a:r>
              <a:rPr sz="2700" b="1">
                <a:solidFill>
                  <a:srgbClr val="3A3F57"/>
                </a:solidFill>
                <a:latin typeface="맑은 고딕"/>
                <a:ea typeface="맑은 고딕"/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239512"/>
            <a:ext cx="29260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40">
                <a:solidFill>
                  <a:srgbClr val="7C8299"/>
                </a:solidFill>
                <a:latin typeface="맑은 고딕"/>
                <a:ea typeface="맑은 고딕"/>
              </a:rPr>
              <a:t>보조 근거 · 수급자 조회·관리 기능 이용률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3A3F57"/>
                </a:solidFill>
                <a:latin typeface="맑은 고딕"/>
                <a:ea typeface="맑은 고딕"/>
              </a:rPr>
              <a:t>수급자 자격·급여 기준·구매 가능 정보 조회·관리 기능을 함께 </a:t>
            </a:r>
            <a:r>
              <a:rPr sz="1300" b="1">
                <a:solidFill>
                  <a:srgbClr val="171A2E"/>
                </a:solidFill>
                <a:latin typeface="맑은 고딕"/>
                <a:ea typeface="맑은 고딕"/>
              </a:rPr>
              <a:t>고도화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23317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AEC2"/>
                </a:solidFill>
                <a:latin typeface="맑은 고딕"/>
                <a:ea typeface="맑은 고딕"/>
              </a:rPr>
              <a:t>일일 처리업무 시간 비교 · 고물량 제조사 적용 구간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2697480"/>
            <a:ext cx="5852160" cy="2788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28803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A9AEC2"/>
                </a:solidFill>
                <a:latin typeface="맑은 고딕"/>
                <a:ea typeface="맑은 고딕"/>
              </a:rPr>
              <a:t>단위 : 하루 처리업무 시간(h) · 동일 척도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338328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수기 확인 중심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3364992"/>
            <a:ext cx="4023360" cy="566928"/>
          </a:xfrm>
          <a:prstGeom prst="roundRect">
            <a:avLst>
              <a:gd name="adj" fmla="val 10000"/>
            </a:avLst>
          </a:prstGeom>
          <a:solidFill>
            <a:srgbClr val="B6BC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6시간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416052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1A2E"/>
                </a:solidFill>
                <a:latin typeface="맑은 고딕"/>
                <a:ea typeface="맑은 고딕"/>
              </a:rPr>
              <a:t>개선 후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시스템 구조화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4142232"/>
            <a:ext cx="1341120" cy="56692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  약 2시간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897880" y="4983480"/>
            <a:ext cx="530352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897880" y="5120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범위 : 고물량 제조사 적용 구간의 일일 처리업무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고물량 제조사 적용 구간 한정 · 전사 생산성 아님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03 · 병원 원무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EMR API와 환자 이용 흐름을 연결한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원무 서비스 기획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C6D8C"/>
                </a:solidFill>
                <a:latin typeface="맑은 고딕"/>
                <a:ea typeface="맑은 고딕"/>
              </a:rPr>
              <a:t>환자 이용 흐름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예약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0332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도착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4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1228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조회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66760" y="2011680"/>
            <a:ext cx="777240" cy="0"/>
          </a:xfrm>
          <a:prstGeom prst="bentConnector3">
            <a:avLst/>
          </a:prstGeom>
          <a:ln w="2286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173736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수납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697480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284378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7889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원무 모바일 서비스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환자 이용 흐름 · 운영 확인 · 예외 처리 고려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74136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기존 API 연동 (수행)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30168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37764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721608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기존 EMR API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업체가 제공하는 데이터·기능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0682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C6D8C"/>
                </a:solidFill>
                <a:latin typeface="맑은 고딕"/>
                <a:ea typeface="맑은 고딕"/>
              </a:rPr>
              <a:t>▲ 원무 절차 기반 기능 검토·조율 (수행)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562856"/>
            <a:ext cx="6400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47091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654296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병원 원무 절차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50" b="0">
                <a:solidFill>
                  <a:srgbClr val="7C8299"/>
                </a:solidFill>
                <a:latin typeface="맑은 고딕"/>
                <a:ea typeface="맑은 고딕"/>
              </a:rPr>
              <a:t>병원·EMR사·개발조직 요구사항 조율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2697480"/>
            <a:ext cx="3703320" cy="2542032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 w="17780">
            <a:solidFill>
              <a:srgbClr val="A9AEC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288036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7C8299"/>
                </a:solidFill>
                <a:latin typeface="맑은 고딕"/>
                <a:ea typeface="맑은 고딕"/>
              </a:rPr>
              <a:t>제안 · 검토 (수행 아님)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37560"/>
            <a:ext cx="3291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반복 기능의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공통화</a:t>
            </a:r>
          </a:p>
          <a:p>
            <a:pPr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3A3F57"/>
                </a:solidFill>
                <a:latin typeface="맑은 고딕"/>
                <a:ea typeface="맑은 고딕"/>
              </a:rPr>
              <a:t>병원 공통 </a:t>
            </a:r>
            <a:r>
              <a:rPr sz="1500" b="1">
                <a:solidFill>
                  <a:srgbClr val="171A2E"/>
                </a:solidFill>
                <a:latin typeface="맑은 고딕"/>
                <a:ea typeface="맑은 고딕"/>
              </a:rPr>
              <a:t>통합 플랫폼 방향</a:t>
            </a:r>
          </a:p>
          <a:p>
            <a:pPr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0">
                <a:solidFill>
                  <a:srgbClr val="7C8299"/>
                </a:solidFill>
                <a:latin typeface="맑은 고딕"/>
                <a:ea typeface="맑은 고딕"/>
              </a:rPr>
              <a:t>— 완성한 성과가 아니라, 검토·제안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57784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A3F57"/>
                </a:solidFill>
                <a:latin typeface="맑은 고딕"/>
                <a:ea typeface="맑은 고딕"/>
              </a:rPr>
              <a:t>▢ 수행 경험 — 기존 API 기반 기획·조율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▨ 제안 · 검토 — 공통화·통합 방향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4632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84632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병원별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기관마다 요구사항이 다름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8660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8660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EMR 업체별 차이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제공 데이터·기능이 상이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26880" y="5577840"/>
            <a:ext cx="210312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26880" y="566928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1A2E"/>
                </a:solidFill>
                <a:latin typeface="맑은 고딕"/>
                <a:ea typeface="맑은 고딕"/>
              </a:rPr>
              <a:t>추가 개발·협의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</a:rPr>
              <a:t>협의·비용이 별도로 필요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통합 플랫폼은 제안·검토 단계(구현 완료 아님)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사례 04 · 코나아이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여러 사업의 요청을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우선순위와 팀별 책임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으로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A3F57"/>
                </a:solidFill>
                <a:latin typeface="맑은 고딕"/>
                <a:ea typeface="맑은 고딕"/>
              </a:rPr>
              <a:t>본인이 맡은 </a:t>
            </a: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3개 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71800"/>
            <a:ext cx="3931920" cy="603504"/>
          </a:xfrm>
          <a:prstGeom prst="roundRect">
            <a:avLst>
              <a:gd name="adj" fmla="val 10000"/>
            </a:avLst>
          </a:prstGeom>
          <a:solidFill>
            <a:srgbClr val="F2FAFC"/>
          </a:solidFill>
          <a:ln w="177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1810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코나카드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145536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직접 겸직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57600"/>
            <a:ext cx="393192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0390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지역화폐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831336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343400"/>
            <a:ext cx="393192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8970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71A2E"/>
                </a:solidFill>
                <a:latin typeface="맑은 고딕"/>
                <a:ea typeface="맑은 고딕"/>
              </a:rPr>
              <a:t>모빌리티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517136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팀장 중심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우선순위 판단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424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외부와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합의한 일정·약속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법률·운영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위험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24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여러 요청을 함께 해결할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공통 과제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3317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40">
                <a:solidFill>
                  <a:srgbClr val="0C6D8C"/>
                </a:solidFill>
                <a:latin typeface="맑은 고딕"/>
                <a:ea typeface="맑은 고딕"/>
              </a:rPr>
              <a:t>실행 관리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86800" y="2743200"/>
            <a:ext cx="2834640" cy="0"/>
          </a:xfrm>
          <a:prstGeom prst="bentConnector3">
            <a:avLst/>
          </a:prstGeom>
          <a:ln w="254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86800" y="3008376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2832" y="29260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업무 배분과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백로그 정리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3575304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493008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목적·KPI ↔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상세기획 연결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142232"/>
            <a:ext cx="82296" cy="82296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42832" y="4059936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Figma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 기반 산출물 공유·협업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074920"/>
            <a:ext cx="10789920" cy="841248"/>
          </a:xfrm>
          <a:prstGeom prst="roundRect">
            <a:avLst>
              <a:gd name="adj" fmla="val 10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  DAI 적용   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어려운 요구가 생기면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범위·일정·내부 인력·외부 협업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의 선택안을 비교하고, 경영진 판단이 필요한 사안에는 </a:t>
            </a:r>
            <a:r>
              <a:rPr sz="1500" b="1">
                <a:solidFill>
                  <a:srgbClr val="5FD0EE"/>
                </a:solidFill>
                <a:latin typeface="맑은 고딕"/>
                <a:ea typeface="맑은 고딕"/>
              </a:rPr>
              <a:t>추천안</a:t>
            </a:r>
            <a:r>
              <a:rPr sz="1500" b="0">
                <a:solidFill>
                  <a:srgbClr val="FFFFFF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AI 활용 · 적용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AI로 요구사항을 구체화하고,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적용 효과와 운영 품질</a:t>
            </a: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을 함께 검토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2194560"/>
            <a:ext cx="5349240" cy="2743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7C8299"/>
                </a:solidFill>
                <a:latin typeface="맑은 고딕"/>
                <a:ea typeface="맑은 고딕"/>
              </a:rPr>
              <a:t>지금까지 · 수행 경험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AI로 초안을 빠르게 만든다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4838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PRD · 기능정의 ·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프로토타입 제작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39410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38862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테스트 데이터를 연결한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작동 프로토타입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4398264"/>
            <a:ext cx="100584" cy="100584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사내 운영 업무의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도구화 · 자동화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100">
                <a:solidFill>
                  <a:srgbClr val="0C6D8C"/>
                </a:solidFill>
                <a:latin typeface="맑은 고딕"/>
                <a:ea typeface="맑은 고딕"/>
              </a:rPr>
              <a:t>DAI · 서비스 적용 기준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000" b="1">
                <a:solidFill>
                  <a:srgbClr val="171A2E"/>
                </a:solidFill>
                <a:latin typeface="맑은 고딕"/>
                <a:ea typeface="맑은 고딕"/>
              </a:rPr>
              <a:t>정식 적용은 이렇게 판단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438144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401568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사용자·운영 문제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를 개선하는가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22192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785616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결과의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오류·누락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어떻게 확인하는가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206240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169664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어떤 상황에서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사람이 검토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하는가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90288"/>
            <a:ext cx="118872" cy="118872"/>
          </a:xfrm>
          <a:prstGeom prst="roundRect">
            <a:avLst>
              <a:gd name="adj" fmla="val 10000"/>
            </a:avLst>
          </a:prstGeom>
          <a:noFill/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553712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데이터·연동·보안·운영 비용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감당할 수 있는가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2064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120640"/>
            <a:ext cx="64008" cy="9144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230368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C6D8C"/>
                </a:solidFill>
                <a:latin typeface="맑은 고딕"/>
                <a:ea typeface="맑은 고딕"/>
              </a:rPr>
              <a:t>적용 예시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5230368"/>
            <a:ext cx="8961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정보 요약 기능이라면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처리시간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C6D8C"/>
                </a:solidFill>
                <a:latin typeface="맑은 고딕"/>
                <a:ea typeface="맑은 고딕"/>
              </a:rPr>
              <a:t>중요 정보 누락 여부</a:t>
            </a:r>
            <a:r>
              <a:rPr sz="1600" b="1">
                <a:solidFill>
                  <a:srgbClr val="171A2E"/>
                </a:solidFill>
                <a:latin typeface="맑은 고딕"/>
                <a:ea typeface="맑은 고딕"/>
              </a:rPr>
              <a:t>를 함께 평가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7C8299"/>
                </a:solidFill>
                <a:latin typeface="맑은 고딕"/>
                <a:ea typeface="맑은 고딕"/>
              </a:rPr>
              <a:t>향후 접근법입니다. 실제 의료 AI 성과가 아니며, 임상·규제는 전문가와 함께합니다.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단계별 접근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사업 목표와 실행 조건에 따라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검증하고 확장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사업 · 현장 이해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사용자·도입 결정자·비용 부담 주체는 누구인가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기존 사업·데이터·계약·운영 조건은 무엇인가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해결할 문제와 기대 성과 합의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4612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8328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우선 과제 선정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고객 영향과 사업 효과는 어느 쪽이 큰가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31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데이터·개발·운영 가능성은 충분한가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8328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38328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우선순위와 개발 범위 제안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4360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08076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불확실성 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수요·연동·AI 품질·운영 중 핵심 불확실성은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인터뷰·프로토타입·기술 검토·실증 중 무엇이 적합한가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8076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08076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진행 · 범위 수정 · 보류 판단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41080" y="2148840"/>
            <a:ext cx="0" cy="228600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778240" y="21488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2724912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1A2E"/>
                </a:solidFill>
                <a:latin typeface="맑은 고딕"/>
                <a:ea typeface="맑은 고딕"/>
              </a:rPr>
              <a:t>구축 · 개선 · 확장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3401568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401568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실제 이용과 운영 결과는 어떠한가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4023360"/>
            <a:ext cx="228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91B8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34272" y="4023360"/>
            <a:ext cx="21945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3A3F57"/>
                </a:solidFill>
                <a:latin typeface="맑은 고딕"/>
                <a:ea typeface="맑은 고딕"/>
              </a:rPr>
              <a:t>공통 활용 가능한 기능·운영 기준은 무엇인가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778240" y="4681728"/>
            <a:ext cx="2423160" cy="0"/>
          </a:xfrm>
          <a:prstGeom prst="bentConnector3">
            <a:avLst/>
          </a:prstGeom>
          <a:ln w="12700">
            <a:solidFill>
              <a:srgbClr val="E5E8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778240" y="4754880"/>
            <a:ext cx="2423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60">
                <a:solidFill>
                  <a:srgbClr val="7C8299"/>
                </a:solidFill>
                <a:latin typeface="맑은 고딕"/>
                <a:ea typeface="맑은 고딕"/>
              </a:rPr>
              <a:t>판단 결과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C6D8C"/>
                </a:solidFill>
                <a:latin typeface="맑은 고딕"/>
                <a:ea typeface="맑은 고딕"/>
              </a:rPr>
              <a:t>보완 · 확대 여부 결정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51760" y="5468112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C8299"/>
                </a:solidFill>
                <a:latin typeface="맑은 고딕"/>
                <a:ea typeface="맑은 고딕"/>
              </a:rPr>
              <a:t>←  검증 결과에 따라 앞 단계로 되돌아갈 수 있고, 이미 검증된 부분은 이어받습니다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5806440"/>
            <a:ext cx="10789920" cy="457200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   경영진에게는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선택의 근거와 추천안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을, 실행 조직에는 </a:t>
            </a:r>
            <a:r>
              <a:rPr sz="1500" b="1">
                <a:solidFill>
                  <a:srgbClr val="0C6D8C"/>
                </a:solidFill>
                <a:latin typeface="맑은 고딕"/>
                <a:ea typeface="맑은 고딕"/>
              </a:rPr>
              <a:t>명확한 범위와 판단 기준</a:t>
            </a:r>
            <a:r>
              <a:rPr sz="1500" b="0">
                <a:solidFill>
                  <a:srgbClr val="171A2E"/>
                </a:solidFill>
                <a:latin typeface="맑은 고딕"/>
                <a:ea typeface="맑은 고딕"/>
              </a:rPr>
              <a:t>을 제시하겠습니다.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" y="5806440"/>
            <a:ext cx="64008" cy="457200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특정 기간·매출·출시 약속은 두지 않음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875520" y="457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9AEC2"/>
                </a:solidFill>
                <a:latin typeface="맑은 고딕"/>
                <a:ea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1391B8"/>
                </a:solidFill>
                <a:latin typeface="맑은 고딕"/>
                <a:ea typeface="맑은 고딕"/>
              </a:rPr>
              <a:t>DAI 기여 · 첫 검증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832104"/>
            <a:ext cx="1737360" cy="0"/>
          </a:xfrm>
          <a:prstGeom prst="bentConnector3">
            <a:avLst/>
          </a:prstGeom>
          <a:ln w="25400">
            <a:solidFill>
              <a:srgbClr val="1391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32688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71A2E"/>
                </a:solidFill>
                <a:latin typeface="맑은 고딕"/>
                <a:ea typeface="맑은 고딕"/>
              </a:rPr>
              <a:t>먼저 증명할 </a:t>
            </a:r>
            <a:r>
              <a:rPr sz="3300" b="1">
                <a:solidFill>
                  <a:srgbClr val="0C6D8C"/>
                </a:solidFill>
                <a:latin typeface="맑은 고딕"/>
                <a:ea typeface="맑은 고딕"/>
              </a:rPr>
              <a:t>두 가지 실행 가설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C8299"/>
                </a:solidFill>
                <a:latin typeface="맑은 고딕"/>
                <a:ea typeface="맑은 고딕"/>
              </a:rPr>
              <a:t>공개된 그룹 자산과 제 경험에서 좁힌 </a:t>
            </a:r>
            <a:r>
              <a:rPr sz="1400" b="1">
                <a:solidFill>
                  <a:srgbClr val="0C6D8C"/>
                </a:solidFill>
                <a:latin typeface="맑은 고딕"/>
                <a:ea typeface="맑은 고딕"/>
              </a:rPr>
              <a:t>가설</a:t>
            </a:r>
            <a:r>
              <a:rPr sz="1400" b="0">
                <a:solidFill>
                  <a:srgbClr val="7C8299"/>
                </a:solidFill>
                <a:latin typeface="맑은 고딕"/>
                <a:ea typeface="맑은 고딕"/>
              </a:rPr>
              <a:t>입니다. 확정 계획이 아니라, 입사 후 함께 검증할 출발점으로 제안합니다.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5330952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11680"/>
            <a:ext cx="5330952" cy="896112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48840"/>
            <a:ext cx="48737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30">
                <a:solidFill>
                  <a:srgbClr val="5FD0EE"/>
                </a:solidFill>
                <a:latin typeface="맑은 고딕"/>
                <a:ea typeface="맑은 고딕"/>
              </a:rPr>
              <a:t>가설 A · 환자 경험 연결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  <a:ea typeface="맑은 고딕"/>
              </a:rPr>
              <a:t>흩어진 접점을 하나로 잇는다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0175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가설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017520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접점이 한 여정으로 이어지면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측정 지속·다음 행동 연결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이 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4472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447288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그룹이 유통·판매하는 진단·모니터링·관리 접점(닥터눈·하이카디·케어센스에어)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87705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877056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동의·규제 확보를 전제로, 만성질환자 일부에게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두 접점을 먼저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3068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KPI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306824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측정 지속률 · 다음 행동 연결률 · 안전 인시던트(발생 여부·건수)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" y="4718304"/>
            <a:ext cx="5221224" cy="4572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78231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FD0EE"/>
                </a:solidFill>
                <a:latin typeface="맑은 고딕"/>
                <a:ea typeface="맑은 고딕"/>
              </a:rPr>
              <a:t>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773168"/>
            <a:ext cx="41422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지표 개선 + 동의·규제 통과 → </a:t>
            </a:r>
            <a:r>
              <a:rPr sz="1350" b="1">
                <a:solidFill>
                  <a:srgbClr val="5FD0EE"/>
                </a:solidFill>
                <a:latin typeface="맑은 고딕"/>
                <a:ea typeface="맑은 고딕"/>
              </a:rPr>
              <a:t>확대</a:t>
            </a: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 / 미달 → 보류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2011680"/>
            <a:ext cx="5330952" cy="3200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2011680"/>
            <a:ext cx="5330952" cy="896112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148840"/>
            <a:ext cx="487375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30">
                <a:solidFill>
                  <a:srgbClr val="5FD0EE"/>
                </a:solidFill>
                <a:latin typeface="맑은 고딕"/>
                <a:ea typeface="맑은 고딕"/>
              </a:rPr>
              <a:t>가설 B · 데이터 재사용(RWD)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  <a:ea typeface="맑은 고딕"/>
              </a:rPr>
              <a:t>데이터를 모아 다시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가설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4888" y="3017520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접점 데이터를 표준으로 모으면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개선·근거에 다시 쓸 수 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44728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근거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4888" y="3447288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접점이 따로 돌면 데이터도 흩어진다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87705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C8299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3877056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한 여정에서 </a:t>
            </a:r>
            <a:r>
              <a:rPr sz="1450" b="1">
                <a:solidFill>
                  <a:srgbClr val="171A2E"/>
                </a:solidFill>
                <a:latin typeface="맑은 고딕"/>
                <a:ea typeface="맑은 고딕"/>
              </a:rPr>
              <a:t>공통 데이터 기준</a:t>
            </a:r>
            <a:r>
              <a:rPr sz="1450" b="0">
                <a:solidFill>
                  <a:srgbClr val="3A3F57"/>
                </a:solidFill>
                <a:latin typeface="맑은 고딕"/>
                <a:ea typeface="맑은 고딕"/>
              </a:rPr>
              <a:t>을 정해 소규모 시험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3068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C6D8C"/>
                </a:solidFill>
                <a:latin typeface="맑은 고딕"/>
                <a:ea typeface="맑은 고딕"/>
              </a:rPr>
              <a:t>KPI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306824"/>
            <a:ext cx="4096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C6D8C"/>
                </a:solidFill>
                <a:latin typeface="맑은 고딕"/>
                <a:ea typeface="맑은 고딕"/>
              </a:rPr>
              <a:t>데이터 완결성(표준 충족률) · 재사용 건수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4718304"/>
            <a:ext cx="5221224" cy="4572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78231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FD0EE"/>
                </a:solidFill>
                <a:latin typeface="맑은 고딕"/>
                <a:ea typeface="맑은 고딕"/>
              </a:rPr>
              <a:t>판단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4773168"/>
            <a:ext cx="414223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완결성·재사용 확인 + 동의·보안·규제 통과 → </a:t>
            </a:r>
            <a:r>
              <a:rPr sz="1350" b="1">
                <a:solidFill>
                  <a:srgbClr val="5FD0EE"/>
                </a:solidFill>
                <a:latin typeface="맑은 고딕"/>
                <a:ea typeface="맑은 고딕"/>
              </a:rPr>
              <a:t>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57800"/>
            <a:ext cx="10817352" cy="713232"/>
          </a:xfrm>
          <a:prstGeom prst="roundRect">
            <a:avLst>
              <a:gd name="adj" fmla="val 10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   확정된 계획이 아니라 </a:t>
            </a:r>
            <a:r>
              <a:rPr sz="1350" b="1">
                <a:solidFill>
                  <a:srgbClr val="171A2E"/>
                </a:solidFill>
                <a:latin typeface="맑은 고딕"/>
                <a:ea typeface="맑은 고딕"/>
              </a:rPr>
              <a:t>입사 후 살펴보며 정할 가설</a:t>
            </a: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입니다. </a:t>
            </a:r>
            <a:r>
              <a:rPr sz="1350" b="1">
                <a:solidFill>
                  <a:srgbClr val="171A2E"/>
                </a:solidFill>
                <a:latin typeface="맑은 고딕"/>
                <a:ea typeface="맑은 고딕"/>
              </a:rPr>
              <a:t>KPI 목표치는 입사 후 합의</a:t>
            </a:r>
            <a:r>
              <a:rPr sz="1350" b="0">
                <a:solidFill>
                  <a:srgbClr val="3A3F57"/>
                </a:solidFill>
                <a:latin typeface="맑은 고딕"/>
                <a:ea typeface="맑은 고딕"/>
              </a:rPr>
              <a:t>하며, 데이터는 환자 동의·보안·규제 범위 안에서만 씁니다.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257800"/>
            <a:ext cx="64008" cy="713232"/>
          </a:xfrm>
          <a:prstGeom prst="rect">
            <a:avLst/>
          </a:prstGeom>
          <a:solidFill>
            <a:srgbClr val="A9A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299"/>
                </a:solidFill>
                <a:latin typeface="맑은 고딕"/>
                <a:ea typeface="맑은 고딕"/>
              </a:rPr>
              <a:t>공개 자산 기반 검증 가설(확정 아님) · 특정 환자 데이터 권한 확보 가정 안 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C8299"/>
                </a:solidFill>
                <a:latin typeface="맑은 고딕"/>
                <a:ea typeface="맑은 고딕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5669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EB8D6"/>
                </a:solidFill>
                <a:latin typeface="맑은 고딕"/>
                <a:ea typeface="맑은 고딕"/>
              </a:rPr>
              <a:t>●  동아쏘시오그룹 · DAI   |   AI 헬스케어 플랫폼 팀장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220">
                <a:solidFill>
                  <a:srgbClr val="5FD0EE"/>
                </a:solidFill>
                <a:latin typeface="맑은 고딕"/>
                <a:ea typeface="맑은 고딕"/>
              </a:rPr>
              <a:t>맺음말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883664"/>
            <a:ext cx="1737360" cy="0"/>
          </a:xfrm>
          <a:prstGeom prst="bentConnector3">
            <a:avLst/>
          </a:prstGeom>
          <a:ln w="25400">
            <a:solidFill>
              <a:srgbClr val="2F7F9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0116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DAI의 사업 과제를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5FD0EE"/>
                </a:solidFill>
                <a:latin typeface="맑은 고딕"/>
                <a:ea typeface="맑은 고딕"/>
              </a:rPr>
              <a:t>제품과 운영</a:t>
            </a:r>
            <a:r>
              <a:rPr sz="4000" b="1">
                <a:solidFill>
                  <a:srgbClr val="FFFFFF"/>
                </a:solidFill>
                <a:latin typeface="맑은 고딕"/>
                <a:ea typeface="맑은 고딕"/>
              </a:rPr>
              <a:t>으로 구체화하겠습니다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977639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40">
                <a:solidFill>
                  <a:srgbClr val="5FD0EE"/>
                </a:solidFill>
                <a:latin typeface="맑은 고딕"/>
                <a:ea typeface="맑은 고딕"/>
              </a:rPr>
              <a:t>01 · 전환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43400"/>
            <a:ext cx="2514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7EBF6"/>
                </a:solidFill>
                <a:latin typeface="맑은 고딕"/>
                <a:ea typeface="맑은 고딕"/>
              </a:rPr>
              <a:t>사용자 행동과 사업 전환을 함께 봤습니다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36976" y="3977639"/>
            <a:ext cx="0" cy="105156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83280" y="3977639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40">
                <a:solidFill>
                  <a:srgbClr val="5FD0EE"/>
                </a:solidFill>
                <a:latin typeface="맑은 고딕"/>
                <a:ea typeface="맑은 고딕"/>
              </a:rPr>
              <a:t>02 · 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343400"/>
            <a:ext cx="2514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7EBF6"/>
                </a:solidFill>
                <a:latin typeface="맑은 고딕"/>
                <a:ea typeface="맑은 고딕"/>
              </a:rPr>
              <a:t>현장 처리 업무를 시스템으로 구조화했습니다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07024" y="3977639"/>
            <a:ext cx="0" cy="105156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053328" y="3977639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40">
                <a:solidFill>
                  <a:srgbClr val="5FD0EE"/>
                </a:solidFill>
                <a:latin typeface="맑은 고딕"/>
                <a:ea typeface="맑은 고딕"/>
              </a:rPr>
              <a:t>03 ·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4343400"/>
            <a:ext cx="2514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7EBF6"/>
                </a:solidFill>
                <a:latin typeface="맑은 고딕"/>
                <a:ea typeface="맑은 고딕"/>
              </a:rPr>
              <a:t>현장 업무와 외부 시스템을 연결했습니다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577072" y="3977639"/>
            <a:ext cx="0" cy="1051560"/>
          </a:xfrm>
          <a:prstGeom prst="bentConnector3">
            <a:avLst/>
          </a:prstGeom>
          <a:ln w="12700">
            <a:solidFill>
              <a:srgbClr val="333B5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23376" y="3977639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40">
                <a:solidFill>
                  <a:srgbClr val="5FD0EE"/>
                </a:solidFill>
                <a:latin typeface="맑은 고딕"/>
                <a:ea typeface="맑은 고딕"/>
              </a:rPr>
              <a:t>04 · 실행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4343400"/>
            <a:ext cx="2514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7EBF6"/>
                </a:solidFill>
                <a:latin typeface="맑은 고딕"/>
                <a:ea typeface="맑은 고딕"/>
              </a:rPr>
              <a:t>우선순위를 정하고 여러 팀의 실행을 이끌었습니다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필요한 전문성과 협업하며, </a:t>
            </a: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판단의 근거와 실행 결과를 끝까지 설명</a:t>
            </a:r>
            <a:r>
              <a:rPr sz="2200" b="0">
                <a:solidFill>
                  <a:srgbClr val="C7CEE4"/>
                </a:solidFill>
                <a:latin typeface="맑은 고딕"/>
                <a:ea typeface="맑은 고딕"/>
              </a:rPr>
              <a:t>하는 팀장이 되겠습니다.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82512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89AB"/>
                </a:solidFill>
                <a:latin typeface="맑은 고딕"/>
                <a:ea typeface="맑은 고딕"/>
              </a:rPr>
              <a:t>감사합니다. 질문 부탁드립니다.  ·  정치성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8251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40">
                <a:solidFill>
                  <a:srgbClr val="7F89AB"/>
                </a:solidFill>
                <a:latin typeface="맑은 고딕"/>
                <a:ea typeface="맑은 고딕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