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8D6"/>
                </a:solidFill>
                <a:latin typeface="맑은 고딕"/>
                <a:ea typeface="맑은 고딕"/>
              </a:rPr>
              <a:t>●  동아쏘시오그룹 · DAI   |   AI 헬스케어 플랫폼 팀장 지원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5FD0EE"/>
                </a:solidFill>
                <a:latin typeface="맑은 고딕"/>
                <a:ea typeface="맑은 고딕"/>
              </a:rPr>
              <a:t>INTERVIEW PRESENTATION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2295144"/>
            <a:ext cx="1737360" cy="0"/>
          </a:xfrm>
          <a:prstGeom prst="bentConnector3">
            <a:avLst/>
          </a:prstGeom>
          <a:ln w="25400">
            <a:solidFill>
              <a:srgbClr val="2F7F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395728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맑은 고딕"/>
                <a:ea typeface="맑은 고딕"/>
              </a:rPr>
              <a:t>대표 프로젝트 성과와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5FD0EE"/>
                </a:solidFill>
                <a:latin typeface="맑은 고딕"/>
                <a:ea typeface="맑은 고딕"/>
              </a:rPr>
              <a:t>DAI 플랫폼 구축 기여 방안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7CEE4"/>
                </a:solidFill>
                <a:latin typeface="맑은 고딕"/>
                <a:ea typeface="맑은 고딕"/>
              </a:rPr>
              <a:t>AI 헬스케어 플랫폼 팀장 지원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10789920" cy="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56048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  <a:ea typeface="맑은 고딕"/>
              </a:rPr>
              <a:t>정치성   </a:t>
            </a:r>
            <a:r>
              <a:rPr sz="1900" b="0">
                <a:solidFill>
                  <a:srgbClr val="9AA4C6"/>
                </a:solidFill>
                <a:latin typeface="맑은 고딕"/>
                <a:ea typeface="맑은 고딕"/>
              </a:rPr>
              <a:t>· 2026.09.16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40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94B8"/>
                </a:solidFill>
                <a:latin typeface="맑은 고딕"/>
                <a:ea typeface="맑은 고딕"/>
              </a:rPr>
              <a:t>사용자와 현장의 문제를 제품과 운영의 개선으로 연결해 온 경험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89AB"/>
                </a:solidFill>
                <a:latin typeface="맑은 고딕"/>
                <a:ea typeface="맑은 고딕"/>
              </a:rPr>
              <a:t>2026 · 임원 면접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F89AB"/>
                </a:solidFill>
                <a:latin typeface="맑은 고딕"/>
                <a:ea typeface="맑은 고딕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핵심 역량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</a:rPr>
              <a:t>복잡한 요구를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</a:rPr>
              <a:t>서비스 정책과 업무 흐름</a:t>
            </a:r>
            <a:r>
              <a:rPr sz="3000" b="1">
                <a:solidFill>
                  <a:srgbClr val="171A2E"/>
                </a:solidFill>
                <a:latin typeface="맑은 고딕"/>
                <a:ea typeface="맑은 고딕"/>
              </a:rPr>
              <a:t>으로 구체화하고, 팀의 실행으로 연결해 왔습니다.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경험 · 도메인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사용자가 완료할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현장의 처리 업무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9556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무엇을 증명하나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15768"/>
            <a:ext cx="10789920" cy="0"/>
          </a:xfrm>
          <a:prstGeom prst="bentConnector3">
            <a:avLst/>
          </a:prstGeom>
          <a:ln w="20320">
            <a:solidFill>
              <a:srgbClr val="171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52928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굿리치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보험 · 인슈어테크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52928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보험분석을 위한 상담신청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52928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상담 활용 정보의 품질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95560" y="3035808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전환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602736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602736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THK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장기요양 · 돌봄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02736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수급자 자격·구매 정보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602736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주문·직배송의 확인과 예외 처리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5560" y="3785616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운영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352544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352544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더베스트페이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병원 원무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352544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예약·조회·수납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352544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EMR 연동과 기관별 요구 조율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5560" y="4535424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연동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102352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102352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코나아이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지역화폐 · 결제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102352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지역화폐·카드 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02352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3개 팀 요청의 우선순위·실행 관리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95560" y="5285232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조직 실행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5852160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601675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제품의 세부 내용을 이해하면서, 여러 조직의 실행을 함께 챙길 수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사용자가 무엇을 완료해야 하는지와, 운영자가 어떻게 처리해야 하는지를 함께 설계해 왔습니다.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01 · 굿리치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</a:rPr>
              <a:t>보험분석 상담신청 페이지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</a:rPr>
              <a:t>전환율 20%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— 페이지 수정 전 대비, 해당 페이지의 상담신청 전환율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0" b="1">
                <a:solidFill>
                  <a:srgbClr val="0C6D8C"/>
                </a:solidFill>
                <a:latin typeface="맑은 고딕"/>
                <a:ea typeface="맑은 고딕"/>
              </a:rPr>
              <a:t>20</a:t>
            </a:r>
            <a:r>
              <a:rPr sz="7800" b="1">
                <a:solidFill>
                  <a:srgbClr val="7C8299"/>
                </a:solidFill>
                <a:latin typeface="맑은 고딕"/>
                <a:ea typeface="맑은 고딕"/>
              </a:rPr>
              <a:t>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2651760"/>
            <a:ext cx="86868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675887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C6D8C"/>
                </a:solidFill>
                <a:latin typeface="맑은 고딕"/>
                <a:ea typeface="맑은 고딕"/>
              </a:rPr>
              <a:t>보험분석 상담신청 페이지</a:t>
            </a:r>
            <a:r>
              <a:rPr sz="1450" b="0">
                <a:solidFill>
                  <a:srgbClr val="171A2E"/>
                </a:solidFill>
                <a:latin typeface="맑은 고딕"/>
                <a:ea typeface="맑은 고딕"/>
              </a:rPr>
              <a:t>의 상담신청 전환율, 수정 전 대비 개선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448056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55371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55371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상담신청 과정의 반복 확인 단계가 고객 부담·이탈 요인으로 작용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498348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505663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05663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반복 부담을 확인하고, 해당 확인 단계와 신청 흐름을 개선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548640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555955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55955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수정 반영 후 해당 페이지 상담신청 전환율 기존 대비 20% 개선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3232" y="598932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606247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함께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606247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설계사 클레임 비율을 함께 점검 — 상담 활용 정보 품질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228600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AEC2"/>
                </a:solidFill>
                <a:latin typeface="맑은 고딕"/>
                <a:ea typeface="맑은 고딕"/>
              </a:rPr>
              <a:t>신청 과정 개념도 · 실제 화면 아님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2697480"/>
            <a:ext cx="5852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24728" y="28163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60">
                <a:solidFill>
                  <a:srgbClr val="7C8299"/>
                </a:solidFill>
                <a:latin typeface="맑은 고딕"/>
                <a:ea typeface="맑은 고딕"/>
              </a:rPr>
              <a:t>개선 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4728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A2E"/>
                </a:solidFill>
                <a:latin typeface="맑은 고딕"/>
                <a:ea typeface="맑은 고딕"/>
              </a:rPr>
              <a:t>분석 요청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67728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223760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DEEF0"/>
          </a:solidFill>
          <a:ln w="12700">
            <a:solidFill>
              <a:srgbClr val="F3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23A4A"/>
                </a:solidFill>
                <a:latin typeface="맑은 고딕"/>
                <a:ea typeface="맑은 고딕"/>
              </a:rPr>
              <a:t>반복 확인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66760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622792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DEEF0"/>
          </a:solidFill>
          <a:ln w="12700">
            <a:solidFill>
              <a:srgbClr val="F3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23A4A"/>
                </a:solidFill>
                <a:latin typeface="맑은 고딕"/>
                <a:ea typeface="맑은 고딕"/>
              </a:rPr>
              <a:t>반복 확인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5792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21824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A9AE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이탈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24728" y="37124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23A4A"/>
                </a:solidFill>
                <a:latin typeface="맑은 고딕"/>
                <a:ea typeface="맑은 고딕"/>
              </a:rPr>
              <a:t>반복 확인 단계가 고객 부담을 키워 이탈로 이어짐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297680"/>
            <a:ext cx="5852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24728" y="4416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60">
                <a:solidFill>
                  <a:srgbClr val="0C6D8C"/>
                </a:solidFill>
                <a:latin typeface="맑은 고딕"/>
                <a:ea typeface="맑은 고딕"/>
              </a:rPr>
              <a:t>개선 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416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전환율 ▲ 20% 개선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A2E"/>
                </a:solidFill>
                <a:latin typeface="맑은 고딕"/>
                <a:ea typeface="맑은 고딕"/>
              </a:rPr>
              <a:t>분석 요청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424928" y="4983480"/>
            <a:ext cx="256032" cy="0"/>
          </a:xfrm>
          <a:prstGeom prst="bentConnector3">
            <a:avLst/>
          </a:prstGeom>
          <a:ln w="2032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680960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A8D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확인 단계 간소화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81160" y="4983480"/>
            <a:ext cx="256032" cy="0"/>
          </a:xfrm>
          <a:prstGeom prst="bentConnector3">
            <a:avLst/>
          </a:prstGeom>
          <a:ln w="2032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537192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A8D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상담신청 완료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4728" y="53218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반복 확인 부담을 줄여 신청 완료 흐름을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사용자 편의와 사업 전환, 운영 품질을 함께 확인한 경험 · 전후 전환율 절대값은 제공되지 않아 표기하지 않음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02 · THK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</a:rPr>
              <a:t>직배송 확인 업무를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</a:rPr>
              <a:t>시스템으로 구조화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— 일일 처리업무 약 6시간 → 약 2시간 · 고물량 제조사 적용 구간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" y="251460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2606040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개선 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0604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재고 미보유 주문의 수기 확인과 제조사와의 개별 연락 · 주문 진행·예외 확인에 업무 집중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3355848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447288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본인 변경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447288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주문 상태와 처리 흐름을 정리하고, 담당 업무·예외 처리를 관리자 시스템에 반영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4197096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4288536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88536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제조사별 운영 여건에 맞춰 적용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5129784"/>
            <a:ext cx="4572000" cy="9144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129784"/>
            <a:ext cx="54864" cy="914400"/>
          </a:xfrm>
          <a:prstGeom prst="rect">
            <a:avLst/>
          </a:prstGeom>
          <a:solidFill>
            <a:srgbClr val="A9A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A3F57"/>
                </a:solidFill>
                <a:latin typeface="맑은 고딕"/>
                <a:ea typeface="맑은 고딕"/>
              </a:rPr>
              <a:t>약 30</a:t>
            </a:r>
            <a:r>
              <a:rPr sz="2700" b="1">
                <a:solidFill>
                  <a:srgbClr val="3A3F57"/>
                </a:solidFill>
                <a:latin typeface="맑은 고딕"/>
                <a:ea typeface="맑은 고딕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5239512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40">
                <a:solidFill>
                  <a:srgbClr val="7C8299"/>
                </a:solidFill>
                <a:latin typeface="맑은 고딕"/>
                <a:ea typeface="맑은 고딕"/>
              </a:rPr>
              <a:t>보조 근거 · 수급자 조회·관리 기능 이용률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수급자 자격·급여 기준·구매 가능 정보 조회·관리 기능을 함께 </a:t>
            </a:r>
            <a:r>
              <a:rPr sz="1300" b="1">
                <a:solidFill>
                  <a:srgbClr val="171A2E"/>
                </a:solidFill>
                <a:latin typeface="맑은 고딕"/>
                <a:ea typeface="맑은 고딕"/>
              </a:rPr>
              <a:t>고도화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23317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AEC2"/>
                </a:solidFill>
                <a:latin typeface="맑은 고딕"/>
                <a:ea typeface="맑은 고딕"/>
              </a:rPr>
              <a:t>일일 처리업무 시간 비교 · 고물량 제조사 적용 구간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2697480"/>
            <a:ext cx="5852160" cy="2788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288036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A9AEC2"/>
                </a:solidFill>
                <a:latin typeface="맑은 고딕"/>
                <a:ea typeface="맑은 고딕"/>
              </a:rPr>
              <a:t>단위 : 하루 처리업무 시간(h) · 동일 척도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338328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개선 전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수기 확인 중심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3364992"/>
            <a:ext cx="4023360" cy="566928"/>
          </a:xfrm>
          <a:prstGeom prst="roundRect">
            <a:avLst>
              <a:gd name="adj" fmla="val 10000"/>
            </a:avLst>
          </a:prstGeom>
          <a:solidFill>
            <a:srgbClr val="B6BC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  약 6시간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416052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개선 후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시스템 구조화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4142232"/>
            <a:ext cx="1341120" cy="56692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  약 2시간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97880" y="4983480"/>
            <a:ext cx="53035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897880" y="5120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적용 범위 : 고물량 제조사 적용 구간의 일일 처리업무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사용자 기능과 운영자의 처리 기준을 함께 설계 · 처리시간 개선은 고물량 제조사 적용 구간 한정(전사 생산성 아님)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03 · 병원 원무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</a:rPr>
              <a:t>EMR API와 환자 이용 흐름을 연결한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</a:rPr>
              <a:t>원무 서비스 기획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환자 이용 흐름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예약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0332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8056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도착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504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1228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조회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6676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수납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9748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2843784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7889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원무 모바일 서비스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환자 이용 흐름 · 운영 확인 · 예외 처리 고려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74136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C6D8C"/>
                </a:solidFill>
                <a:latin typeface="맑은 고딕"/>
                <a:ea typeface="맑은 고딕"/>
              </a:rPr>
              <a:t>▲ 기존 API 연동 (수행)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30168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3776472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721608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기존 EMR API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업체가 제공하는 데이터·기능 범위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0682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C6D8C"/>
                </a:solidFill>
                <a:latin typeface="맑은 고딕"/>
                <a:ea typeface="맑은 고딕"/>
              </a:rPr>
              <a:t>▲ 원무 절차 기반 기능 검토·조율 (수행)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562856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470916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654296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병원 원무 절차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병원·EMR사·개발조직 요구사항 조율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2697480"/>
            <a:ext cx="3703320" cy="2542032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 w="17780">
            <a:solidFill>
              <a:srgbClr val="A9AE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8803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7C8299"/>
                </a:solidFill>
                <a:latin typeface="맑은 고딕"/>
                <a:ea typeface="맑은 고딕"/>
              </a:rPr>
              <a:t>제안 · 검토 (수행 아님)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337560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</a:rPr>
              <a:t>반복 기능의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공통화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</a:rPr>
              <a:t>병원 공통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통합 플랫폼 방향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0">
                <a:solidFill>
                  <a:srgbClr val="7C8299"/>
                </a:solidFill>
                <a:latin typeface="맑은 고딕"/>
                <a:ea typeface="맑은 고딕"/>
              </a:rPr>
              <a:t>— 완성한 성과가 아니라, 검토·제안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57784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A3F57"/>
                </a:solidFill>
                <a:latin typeface="맑은 고딕"/>
                <a:ea typeface="맑은 고딕"/>
              </a:rPr>
              <a:t>▢ 수행 경험 — 기존 API 기반 기획·조율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▨ 제안 · 검토 — 공통화·통합 방향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4632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4632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병원별 차이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기관마다 요구사항이 다름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8660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8660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EMR 업체별 차이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제공 데이터·기능이 상이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32688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32688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추가 개발·협의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협의·비용이 별도로 필요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기관별 조건을 확인하며 공통화 범위와 추가 개발을 판단 · 통합 플랫폼은 제안·검토 단계(구현 완료 아님)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04 · 코나아이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</a:rPr>
              <a:t>여러 사업의 요청을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</a:rPr>
              <a:t>우선순위와 팀별 책임</a:t>
            </a:r>
            <a:r>
              <a:rPr sz="3000" b="1">
                <a:solidFill>
                  <a:srgbClr val="171A2E"/>
                </a:solidFill>
                <a:latin typeface="맑은 고딕"/>
                <a:ea typeface="맑은 고딕"/>
              </a:rPr>
              <a:t>으로 정리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31720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FD0EE"/>
                </a:solidFill>
                <a:latin typeface="맑은 고딕"/>
                <a:ea typeface="맑은 고딕"/>
              </a:rPr>
              <a:t>본인 · 팀장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3개 팀 운영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34440" y="3383280"/>
            <a:ext cx="3383280" cy="566928"/>
          </a:xfrm>
          <a:prstGeom prst="roundRect">
            <a:avLst>
              <a:gd name="adj" fmla="val 10000"/>
            </a:avLst>
          </a:prstGeom>
          <a:solidFill>
            <a:srgbClr val="F2FAFC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35021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코나카드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529584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직접 겸직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4069080"/>
            <a:ext cx="33832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41879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지역화폐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215384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팀장 중심 운영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4754880"/>
            <a:ext cx="33832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8737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모빌리티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901184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팀장 중심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3317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0C6D8C"/>
                </a:solidFill>
                <a:latin typeface="맑은 고딕"/>
                <a:ea typeface="맑은 고딕"/>
              </a:rPr>
              <a:t>우선순위 판단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0" y="2743200"/>
            <a:ext cx="283464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0" y="3008376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9260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외부와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합의한 일정·약속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575304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2" y="3493008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법률·운영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위험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4142232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42432" y="4059936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여러 요청을 함께 해결할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공통 과제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3317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0C6D8C"/>
                </a:solidFill>
                <a:latin typeface="맑은 고딕"/>
                <a:ea typeface="맑은 고딕"/>
              </a:rPr>
              <a:t>실행 관리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86800" y="2743200"/>
            <a:ext cx="283464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86800" y="3008376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42832" y="29260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업무 배분과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백로그 정리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3575304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3493008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PRD 목적·KPI ↔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상세기획 연결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 확인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142232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4059936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Figma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 기반 산출물 공유·협업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74920"/>
            <a:ext cx="10789920" cy="841248"/>
          </a:xfrm>
          <a:prstGeom prst="roundRect">
            <a:avLst>
              <a:gd name="adj" fmla="val 1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  DAI 적용   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어려운 요구가 생기면 </a:t>
            </a:r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범위·일정·내부 인력·외부 협업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의 선택안을 비교하고, 경영진 판단이 필요한 사안에는 </a:t>
            </a:r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추천안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을 제시하겠습니다.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관리자 직함이나 조직 규모가 아니라, 우선순위를 정하고 팀별 책임으로 실행을 이끈 방식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AI 활용 · 적용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</a:rPr>
              <a:t>AI로 요구사항을 구체화하고,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</a:rPr>
              <a:t>적용 효과와 운영 품질</a:t>
            </a:r>
            <a:r>
              <a:rPr sz="3000" b="1">
                <a:solidFill>
                  <a:srgbClr val="171A2E"/>
                </a:solidFill>
                <a:latin typeface="맑은 고딕"/>
                <a:ea typeface="맑은 고딕"/>
              </a:rPr>
              <a:t>을 함께 검토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5349240" cy="2743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2194560"/>
            <a:ext cx="5349240" cy="274320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00">
                <a:solidFill>
                  <a:srgbClr val="7C8299"/>
                </a:solidFill>
                <a:latin typeface="맑은 고딕"/>
                <a:ea typeface="맑은 고딕"/>
              </a:rPr>
              <a:t>지금까지 · 수행 경험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1">
                <a:solidFill>
                  <a:srgbClr val="171A2E"/>
                </a:solidFill>
                <a:latin typeface="맑은 고딕"/>
                <a:ea typeface="맑은 고딕"/>
              </a:rPr>
              <a:t>AI로 앞단을 구체화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4838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PRD · 기능정의 ·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프로토타입 제작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39410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8862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테스트 데이터를 연결한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작동 프로토타입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43982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사내 운영 업무의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도구화 · 자동화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00">
                <a:solidFill>
                  <a:srgbClr val="0C6D8C"/>
                </a:solidFill>
                <a:latin typeface="맑은 고딕"/>
                <a:ea typeface="맑은 고딕"/>
              </a:rPr>
              <a:t>DAI · 서비스 적용 기준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1">
                <a:solidFill>
                  <a:srgbClr val="171A2E"/>
                </a:solidFill>
                <a:latin typeface="맑은 고딕"/>
                <a:ea typeface="맑은 고딕"/>
              </a:rPr>
              <a:t>정식 적용은 이렇게 판단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438144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40156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어떤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사용자·운영 문제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를 개선하는가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22192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785616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결과의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오류·누락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어떻게 확인하는가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206240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4169664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어떤 상황에서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사람이 검토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하는가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90288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5537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데이터·연동·보안·운영 비용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감당할 수 있는가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12064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120640"/>
            <a:ext cx="64008" cy="914400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230368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적용 예시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5230368"/>
            <a:ext cx="8961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정보 요약 기능이라면 — </a:t>
            </a:r>
            <a:r>
              <a:rPr sz="1600" b="1">
                <a:solidFill>
                  <a:srgbClr val="0C6D8C"/>
                </a:solidFill>
                <a:latin typeface="맑은 고딕"/>
                <a:ea typeface="맑은 고딕"/>
              </a:rPr>
              <a:t>처리시간</a:t>
            </a: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C6D8C"/>
                </a:solidFill>
                <a:latin typeface="맑은 고딕"/>
                <a:ea typeface="맑은 고딕"/>
              </a:rPr>
              <a:t>중요 정보 누락 여부</a:t>
            </a: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를 함께 평가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7C8299"/>
                </a:solidFill>
                <a:latin typeface="맑은 고딕"/>
                <a:ea typeface="맑은 고딕"/>
              </a:rPr>
              <a:t>향후 접근법입니다. 실제 의료 AI 프로젝트 성과가 아닙니다. 임상·규제 판단은 관련 전문가와 협업합니다.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AI 도구의 실행 경험과, 정식 서비스의 검증·운영 기준을 구분해서 다룹니다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DAI 기여 · 단계별 접근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</a:rPr>
              <a:t>사업 목표와 실행 조건에 따라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</a:rPr>
              <a:t>검증하고 확장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사업 · 현장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실제 사용자·도입 결정자·비용 부담 주체는 누구인가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기존 사업·데이터·계약·운영 조건은 무엇인가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해결할 문제와 기대 성과 합의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4612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8328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우선 과제 선정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고객 영향과 사업 효과는 어느 쪽이 큰가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데이터·개발·운영 가능성은 충분한가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8328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38328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우선순위와 개발 범위 제안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4360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08076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불확실성 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수요·연동·AI 품질·운영 중 핵심 불확실성은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인터뷰·프로토타입·기술 검토·실증 중 무엇이 적합한가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8076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8076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진행 · 범위 수정 · 보류 판단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4108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77824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구축 · 개선 · 확장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실제 이용과 운영 결과는 어떠한가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3427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공통 활용 가능한 기능·운영 기준은 무엇인가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77824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77824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보완 · 확대 여부 결정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51760" y="546811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←  검증 결과에 따라 앞 단계로 되돌아갈 수 있고, 이미 검증된 부분은 이어받습니다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5806440"/>
            <a:ext cx="10789920" cy="45720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   경영진에게는 </a:t>
            </a: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선택의 근거와 추천안</a:t>
            </a:r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을, 실행 조직에는 </a:t>
            </a: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명확한 범위와 판단 기준</a:t>
            </a:r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을 제시하겠습니다.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" y="5806440"/>
            <a:ext cx="64008" cy="457200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확정 일정이나 청사진이 아니라, 판단하고 확장하는 접근법 · 특정 기간·매출·출시 약속은 두지 않음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8D6"/>
                </a:solidFill>
                <a:latin typeface="맑은 고딕"/>
                <a:ea typeface="맑은 고딕"/>
              </a:rPr>
              <a:t>●  동아쏘시오그룹 · DAI   |   AI 헬스케어 플랫폼 팀장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5FD0EE"/>
                </a:solidFill>
                <a:latin typeface="맑은 고딕"/>
                <a:ea typeface="맑은 고딕"/>
              </a:rPr>
              <a:t>CLOSING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883664"/>
            <a:ext cx="1737360" cy="0"/>
          </a:xfrm>
          <a:prstGeom prst="bentConnector3">
            <a:avLst/>
          </a:prstGeom>
          <a:ln w="25400">
            <a:solidFill>
              <a:srgbClr val="2F7F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0116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DAI의 사업 과제를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5FD0EE"/>
                </a:solidFill>
                <a:latin typeface="맑은 고딕"/>
                <a:ea typeface="맑은 고딕"/>
              </a:rPr>
              <a:t>제품과 운영</a:t>
            </a: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으로 구체화하겠습니다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01 · 전환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사용자 행동과 사업 전환을 함께 본 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42232" y="3977639"/>
            <a:ext cx="0" cy="86868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511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02 · 연동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511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현장 업무와 외부 시스템을 연결한 경험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54112" y="3977639"/>
            <a:ext cx="0" cy="86868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3699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03 ·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우선순위를 정하고 여러 팀의 실행을 이끈 경험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34924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7CEE4"/>
                </a:solidFill>
                <a:latin typeface="맑은 고딕"/>
                <a:ea typeface="맑은 고딕"/>
              </a:rPr>
              <a:t>필요한 전문성과 협업하며, </a:t>
            </a: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판단의 근거와 실행 결과를 끝까지 설명</a:t>
            </a:r>
            <a:r>
              <a:rPr sz="2200" b="0">
                <a:solidFill>
                  <a:srgbClr val="C7CEE4"/>
                </a:solidFill>
                <a:latin typeface="맑은 고딕"/>
                <a:ea typeface="맑은 고딕"/>
              </a:rPr>
              <a:t>하는 팀장이 되겠습니다.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89AB"/>
                </a:solidFill>
                <a:latin typeface="맑은 고딕"/>
                <a:ea typeface="맑은 고딕"/>
              </a:rPr>
              <a:t>감사합니다. 질문 부탁드립니다.  ·  정치성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F89AB"/>
                </a:solidFill>
                <a:latin typeface="맑은 고딕"/>
                <a:ea typeface="맑은 고딕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